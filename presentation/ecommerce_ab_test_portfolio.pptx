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a157c9080554e48" /><Relationship Type="http://schemas.openxmlformats.org/officeDocument/2006/relationships/extended-properties" Target="/docProps/app.xml" Id="Rd99d7d03b1db4faa" /><Relationship Type="http://schemas.openxmlformats.org/officeDocument/2006/relationships/officeDocument" Target="/ppt/presentation.xml" Id="R2f56f7f9e9344007" /></Relationships>
</file>

<file path=ppt/presentation.xml><?xml version="1.0" encoding="utf-8"?>
<p:presentation xmlns:p="http://schemas.openxmlformats.org/presentationml/2006/main">
  <p:sldMasterIdLst>
    <p:sldMasterId xmlns:r="http://schemas.openxmlformats.org/officeDocument/2006/relationships" id="2147483648" r:id="R6c6d90df59764dd5"/>
  </p:sldMasterIdLst>
  <p:notesMasterIdLst>
    <p:notesMasterId xmlns:r="http://schemas.openxmlformats.org/officeDocument/2006/relationships" r:id="R2666cd05a0e64c31"/>
  </p:notesMasterIdLst>
  <p:sldIdLst>
    <p:sldId xmlns:r="http://schemas.openxmlformats.org/officeDocument/2006/relationships" id="256" r:id="Rc62bb42f8cdf448f"/>
    <p:sldId xmlns:r="http://schemas.openxmlformats.org/officeDocument/2006/relationships" id="257" r:id="Ra1885d8a046f45ab"/>
    <p:sldId xmlns:r="http://schemas.openxmlformats.org/officeDocument/2006/relationships" id="258" r:id="Rb96419e010e94980"/>
    <p:sldId xmlns:r="http://schemas.openxmlformats.org/officeDocument/2006/relationships" id="259" r:id="Rd3b84435fcdb48ab"/>
    <p:sldId xmlns:r="http://schemas.openxmlformats.org/officeDocument/2006/relationships" id="260" r:id="R17e2635ae225418c"/>
    <p:sldId xmlns:r="http://schemas.openxmlformats.org/officeDocument/2006/relationships" id="261" r:id="R110bead728b8400d"/>
    <p:sldId xmlns:r="http://schemas.openxmlformats.org/officeDocument/2006/relationships" id="262" r:id="Rfa79c8378e664b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0236686af2433e" /><Relationship Type="http://schemas.openxmlformats.org/officeDocument/2006/relationships/slideMaster" Target="/ppt/slideMasters/slideMaster1.xml" Id="R6c6d90df59764dd5" /><Relationship Type="http://schemas.openxmlformats.org/officeDocument/2006/relationships/notesMaster" Target="/ppt/notesMasters/notesMaster1.xml" Id="R2666cd05a0e64c31" /><Relationship Type="http://schemas.openxmlformats.org/officeDocument/2006/relationships/presProps" Target="/ppt/presProps.xml" Id="Rfe22eeccb04d4fe8" /><Relationship Type="http://schemas.openxmlformats.org/officeDocument/2006/relationships/tableStyles" Target="/ppt/tableStyles.xml" Id="R4ca64d2e06664442" /><Relationship Type="http://schemas.openxmlformats.org/officeDocument/2006/relationships/slide" Target="/ppt/slides/slide1.xml" Id="Rc62bb42f8cdf448f" /><Relationship Type="http://schemas.openxmlformats.org/officeDocument/2006/relationships/slide" Target="/ppt/slides/slide2.xml" Id="Ra1885d8a046f45ab" /><Relationship Type="http://schemas.openxmlformats.org/officeDocument/2006/relationships/slide" Target="/ppt/slides/slide3.xml" Id="Rb96419e010e94980" /><Relationship Type="http://schemas.openxmlformats.org/officeDocument/2006/relationships/slide" Target="/ppt/slides/slide4.xml" Id="Rd3b84435fcdb48ab" /><Relationship Type="http://schemas.openxmlformats.org/officeDocument/2006/relationships/slide" Target="/ppt/slides/slide5.xml" Id="R17e2635ae225418c" /><Relationship Type="http://schemas.openxmlformats.org/officeDocument/2006/relationships/slide" Target="/ppt/slides/slide6.xml" Id="R110bead728b8400d" /><Relationship Type="http://schemas.openxmlformats.org/officeDocument/2006/relationships/slide" Target="/ppt/slides/slide7.xml" Id="Rfa79c8378e664b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678958d25b4f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7f2657167a41fb" /><Relationship Type="http://schemas.openxmlformats.org/officeDocument/2006/relationships/notesMaster" Target="/ppt/notesMasters/notesMaster1.xml" Id="R152381df59ba48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06a5064b2c45c9" /><Relationship Type="http://schemas.openxmlformats.org/officeDocument/2006/relationships/notesMaster" Target="/ppt/notesMasters/notesMaster1.xml" Id="Re893b24c7f7341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dfc36d4e684829" /><Relationship Type="http://schemas.openxmlformats.org/officeDocument/2006/relationships/notesMaster" Target="/ppt/notesMasters/notesMaster1.xml" Id="R00515d52d7de4a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3bd379a33e4f84" /><Relationship Type="http://schemas.openxmlformats.org/officeDocument/2006/relationships/notesMaster" Target="/ppt/notesMasters/notesMaster1.xml" Id="R70a625cf8dd549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ea99170bc640ab" /><Relationship Type="http://schemas.openxmlformats.org/officeDocument/2006/relationships/notesMaster" Target="/ppt/notesMasters/notesMaster1.xml" Id="R099f9a3d83ea46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44a914b89e4996" /><Relationship Type="http://schemas.openxmlformats.org/officeDocument/2006/relationships/notesMaster" Target="/ppt/notesMasters/notesMaster1.xml" Id="Ra0793eec05604e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36da8414064d72" /><Relationship Type="http://schemas.openxmlformats.org/officeDocument/2006/relationships/notesMaster" Target="/ppt/notesMasters/notesMaster1.xml" Id="R04f3615b377f4f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analysis examines conversion differences in a public e-commerce A/B dataset. It is an observational review of the supplied experiment file, not verification of a live experiment or rollout recommendation. Cover artwork is a conceptual illustration, not a photograph of the source experiment.</a:t>
            </a:r>
          </a:p>
          <a:p xmlns:a="http://schemas.openxmlformats.org/drawingml/2006/main">
            <a:r>
              <a:t/>
            </a:r>
          </a:p>
          <a:p xmlns:a="http://schemas.openxmlformats.org/drawingml/2006/main">
            <a:r>
              <a:t>Source: https://video.udacity-data.com/topher/2023/February/63f67d64_ab_data/ab_data.csv</a:t>
            </a:r>
          </a:p>
          <a:p xmlns:a="http://schemas.openxmlformats.org/drawingml/2006/main">
            <a:r>
              <a:t>SHA-256: 8c1ce3d02b7b195c1f40a1c278ba8c2f807295874c302efb61812ba226ce43ac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 conversion: 3,650 / 34,678 = 10.5254%. Treatment conversion: 5,469 / 35,211 = 15.5321%. Absolute difference: 5.0067 percentage points. Relative lift: 47.5675%. Percentage-point difference and relative-percent change use different denominators. These are descriptive estimates under the recorded group labels.</a:t>
            </a:r>
          </a:p>
          <a:p xmlns:a="http://schemas.openxmlformats.org/drawingml/2006/main">
            <a:r>
              <a:t/>
            </a:r>
          </a:p>
          <a:p xmlns:a="http://schemas.openxmlformats.org/drawingml/2006/main">
            <a:r>
              <a:t>Source: https://video.udacity-data.com/topher/2023/February/63f67d64_ab_data/ab_data.csv</a:t>
            </a:r>
          </a:p>
          <a:p xmlns:a="http://schemas.openxmlformats.org/drawingml/2006/main">
            <a:r>
              <a:t>SHA-256: 8c1ce3d02b7b195c1f40a1c278ba8c2f807295874c302efb61812ba226ce43ac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 shown is the 95% Newcombe interval for the difference between two independent proportions, not a Wald interval. The two-sided pooled two-proportion test gives p = 6.104e-86. Independent observations are assumed. Alpha = 0.05 is a retrospective analysis choice, not a verified preregistered test plan. The source lacks identifiers and timestamps, so independence, exposure, and test timing cannot be verified. An interval excluding zero does not establish business value or validate randomization.</a:t>
            </a:r>
          </a:p>
          <a:p xmlns:a="http://schemas.openxmlformats.org/drawingml/2006/main">
            <a:r>
              <a:t/>
            </a:r>
          </a:p>
          <a:p xmlns:a="http://schemas.openxmlformats.org/drawingml/2006/main">
            <a:r>
              <a:t>Source: https://video.udacity-data.com/topher/2023/February/63f67d64_ab_data/ab_data.csv</a:t>
            </a:r>
          </a:p>
          <a:p xmlns:a="http://schemas.openxmlformats.org/drawingml/2006/main">
            <a:r>
              <a:t>SHA-256: 8c1ce3d02b7b195c1f40a1c278ba8c2f807295874c302efb61812ba226ce43ac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uses control and US as reference categories. Treatment odds ratio: 1.56314 unadjusted and 1.56302 after adjustment for country. An odds ratio is not a risk ratio. The population-standardized conversion difference is 5.00524 percentage points, presented as a point estimate only. Country counts and converted counts: CA control n=1,683 converted=159, treatment n=1,805 converted=278. UK control n=8,795 converted=894, treatment n=8,756 converted=1,302. US control n=24,200 converted=2,597, treatment n=24,650 converted=3,889. Adjustment for one recorded covariate does not establish independence, randomization, or absence of confounding.</a:t>
            </a:r>
          </a:p>
          <a:p xmlns:a="http://schemas.openxmlformats.org/drawingml/2006/main">
            <a:r>
              <a:t/>
            </a:r>
          </a:p>
          <a:p xmlns:a="http://schemas.openxmlformats.org/drawingml/2006/main">
            <a:r>
              <a:t>Source: https://video.udacity-data.com/topher/2023/February/63f67d64_ab_data/ab_data.csv</a:t>
            </a:r>
          </a:p>
          <a:p xmlns:a="http://schemas.openxmlformats.org/drawingml/2006/main">
            <a:r>
              <a:t>SHA-256: 8c1ce3d02b7b195c1f40a1c278ba8c2f807295874c302efb61812ba226ce43ac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contains 69,889 rows and three columns: country, group, converted. There are no missing values in these columns. Repeated tuples of these low-cardinality categorical values are expected and are not grounds for deleting observations, so all rows are retained. Without user identifiers, timestamps, allocation specification or logging metadata, this file cannot verify distinct users, independence, randomization, timing, or exposure integrity. Conditional sample-allocation diagnostic: if the intended split were 50:50, a chi-square goodness-of-fit test gives p approximately 0.0442. Intended allocation is unknown. This result warrants checking the design and logging, not automatic exclusion of rows or declaration that the experiment is invalid.</a:t>
            </a:r>
          </a:p>
          <a:p xmlns:a="http://schemas.openxmlformats.org/drawingml/2006/main">
            <a:r>
              <a:t/>
            </a:r>
          </a:p>
          <a:p xmlns:a="http://schemas.openxmlformats.org/drawingml/2006/main">
            <a:r>
              <a:t>Source: https://video.udacity-data.com/topher/2023/February/63f67d64_ab_data/ab_data.csv</a:t>
            </a:r>
          </a:p>
          <a:p xmlns:a="http://schemas.openxmlformats.org/drawingml/2006/main">
            <a:r>
              <a:t>SHA-256: 8c1ce3d02b7b195c1f40a1c278ba8c2f807295874c302efb61812ba226ce43ac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conversion evidence favors treatment conditional on the assumptions required by the statistical analyses. A rollout decision also requires confirmation of allocation, units, test timing and event logging, plus a minimum worthwhile effect and guardrail metrics. The source contains no revenue, margin, treatment cost, implementation cost, retention, or safety outcomes. Do not interpret conversion lift as profit or ROI.</a:t>
            </a:r>
          </a:p>
          <a:p xmlns:a="http://schemas.openxmlformats.org/drawingml/2006/main">
            <a:r>
              <a:t/>
            </a:r>
          </a:p>
          <a:p xmlns:a="http://schemas.openxmlformats.org/drawingml/2006/main">
            <a:r>
              <a:t>Source: https://video.udacity-data.com/topher/2023/February/63f67d64_ab_data/ab_data.csv</a:t>
            </a:r>
          </a:p>
          <a:p xmlns:a="http://schemas.openxmlformats.org/drawingml/2006/main">
            <a:r>
              <a:t>SHA-256: 8c1ce3d02b7b195c1f40a1c278ba8c2f807295874c302efb61812ba226ce43ac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contains e-commerce A/B data from Udacity. The notebook and aggregate results support reproducibility. Raw data is excluded because redistribution permission is unclear.</a:t>
            </a:r>
          </a:p>
          <a:p xmlns:a="http://schemas.openxmlformats.org/drawingml/2006/main">
            <a:r>
              <a:t/>
            </a:r>
          </a:p>
          <a:p xmlns:a="http://schemas.openxmlformats.org/drawingml/2006/main">
            <a:r>
              <a:t>Source: https://video.udacity-data.com/topher/2023/February/63f67d64_ab_data/ab_data.csv</a:t>
            </a:r>
          </a:p>
          <a:p xmlns:a="http://schemas.openxmlformats.org/drawingml/2006/main">
            <a:r>
              <a:t>SHA-256: 8c1ce3d02b7b195c1f40a1c278ba8c2f807295874c302efb61812ba226ce43ac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11936d4d234e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f2895d5516b43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7ddc4ded3348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8f66fef83d40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8d91432bf145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569a8d263d4e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FC355D-0A28-4571-B664-CA1AD2AE18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0AE9D9E-8B84-4A09-813B-14D8BA12837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27F8C5-AFF3-4065-9318-5D09F9C226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6B64E2-C955-49AD-8C76-E8FE79D3A4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BE9032F-0429-43FB-8179-98216EC07C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3C90B9-837D-4E61-888F-B59EFAD359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83A365-8EC3-4ED5-A329-AEEDE4101D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5D7281-893B-4B50-A34B-59A412457C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94D083-F3AD-46F5-8AB2-4B023B8442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C9F282-6FEA-45CE-A7C1-B3EDEA825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192666dc31473a" /><Relationship Type="http://schemas.openxmlformats.org/officeDocument/2006/relationships/slideLayout" Target="/ppt/slideLayouts/slideLayout1.xml" Id="R3f06305f410b42de" /><Relationship Type="http://schemas.openxmlformats.org/officeDocument/2006/relationships/slideLayout" Target="/ppt/slideLayouts/slideLayout2.xml" Id="R87866ddc5bf547d7" /><Relationship Type="http://schemas.openxmlformats.org/officeDocument/2006/relationships/slideLayout" Target="/ppt/slideLayouts/slideLayout3.xml" Id="R257414efc64944e1" /><Relationship Type="http://schemas.openxmlformats.org/officeDocument/2006/relationships/slideLayout" Target="/ppt/slideLayouts/slideLayout4.xml" Id="R66e88c3fe4bf46b1" /><Relationship Type="http://schemas.openxmlformats.org/officeDocument/2006/relationships/slideLayout" Target="/ppt/slideLayouts/slideLayout5.xml" Id="R516e48b0a9984022" /><Relationship Type="http://schemas.openxmlformats.org/officeDocument/2006/relationships/slideLayout" Target="/ppt/slideLayouts/slideLayout6.xml" Id="R0fc29ae8142c4c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06305f410b42de"/>
    <p:sldLayoutId xmlns:r="http://schemas.openxmlformats.org/officeDocument/2006/relationships" id="2147483650" r:id="R87866ddc5bf547d7"/>
    <p:sldLayoutId xmlns:r="http://schemas.openxmlformats.org/officeDocument/2006/relationships" id="2147483651" r:id="R257414efc64944e1"/>
    <p:sldLayoutId xmlns:r="http://schemas.openxmlformats.org/officeDocument/2006/relationships" id="2147483652" r:id="R66e88c3fe4bf46b1"/>
    <p:sldLayoutId xmlns:r="http://schemas.openxmlformats.org/officeDocument/2006/relationships" id="2147483653" r:id="R516e48b0a9984022"/>
    <p:sldLayoutId xmlns:r="http://schemas.openxmlformats.org/officeDocument/2006/relationships" id="2147483654" r:id="R0fc29ae8142c4c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0b1448c4ea4b23" /><Relationship Type="http://schemas.openxmlformats.org/officeDocument/2006/relationships/image" Target="/ppt/media/image.png" Id="R11d03f5cadb94fe7" /><Relationship Type="http://schemas.openxmlformats.org/officeDocument/2006/relationships/notesSlide" Target="/ppt/notesSlides/notesSlide1.xml" Id="R424e2373d28a4f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48b97109e8248a9" /><Relationship Type="http://schemas.openxmlformats.org/officeDocument/2006/relationships/chart" Target="/ppt/slides/charts/chart1.xml" Id="R7646f876b4a546ac" /><Relationship Type="http://schemas.openxmlformats.org/officeDocument/2006/relationships/notesSlide" Target="/ppt/notesSlides/notesSlide2.xml" Id="Rcf403c42fec54f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29daf7fd9ba44ef" /><Relationship Type="http://schemas.openxmlformats.org/officeDocument/2006/relationships/chart" Target="/ppt/slides/charts/chart2.xml" Id="R307cc62fe51e4dfb" /><Relationship Type="http://schemas.openxmlformats.org/officeDocument/2006/relationships/notesSlide" Target="/ppt/notesSlides/notesSlide3.xml" Id="R0555412e0f0b48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cb194bd7a74c49" /><Relationship Type="http://schemas.openxmlformats.org/officeDocument/2006/relationships/chart" Target="/ppt/slides/charts/chart3.xml" Id="R06614fcc81a64c0f" /><Relationship Type="http://schemas.openxmlformats.org/officeDocument/2006/relationships/notesSlide" Target="/ppt/notesSlides/notesSlide4.xml" Id="Rb1bb0b7a6d7448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40e3740a6534958" /><Relationship Type="http://schemas.openxmlformats.org/officeDocument/2006/relationships/notesSlide" Target="/ppt/notesSlides/notesSlide5.xml" Id="Raedf5e271a4446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9ecb63d7074dfa" /><Relationship Type="http://schemas.openxmlformats.org/officeDocument/2006/relationships/notesSlide" Target="/ppt/notesSlides/notesSlide6.xml" Id="R060ced9f428f44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0f1cd6966c4598" /><Relationship Type="http://schemas.openxmlformats.org/officeDocument/2006/relationships/notesSlide" Target="/ppt/notesSlides/notesSlide7.xml" Id="R56cc9f918ec24ee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Conversion rate</c:v>
          </c:tx>
          <c:spPr>
            <a:solidFill xmlns:a="http://schemas.openxmlformats.org/drawingml/2006/main">
              <a:srgbClr val="8296A2"/>
            </a:solidFill>
          </c:spPr>
          <c:invertIfNegative val="0"/>
          <c:dPt>
            <c:idx val="0"/>
            <c:invertIfNegative val="0"/>
            <c:spPr>
              <a:solidFill xmlns:a="http://schemas.openxmlformats.org/drawingml/2006/main">
                <a:srgbClr val="8296A2"/>
              </a:solidFill>
            </c:spPr>
          </c:dPt>
          <c:dPt>
            <c:idx val="1"/>
            <c:invertIfNegative val="0"/>
            <c:spPr>
              <a:solidFill xmlns:a="http://schemas.openxmlformats.org/drawingml/2006/main">
                <a:srgbClr val="007E87"/>
              </a:solidFill>
            </c:spPr>
          </c:dPt>
          <c:cat>
            <c:strRef>
              <c:f>'Chart Data'!$A$2:$A$3</c:f>
              <c:strCache>
                <c:ptCount val="2"/>
                <c:pt idx="0">
                  <c:v>Control</c:v>
                </c:pt>
                <c:pt idx="1">
                  <c:v>Treatment</c:v>
                </c:pt>
              </c:strCache>
            </c:strRef>
          </c:cat>
          <c:val>
            <c:numRef>
              <c:f>'Chart Data'!$B$2:$B$3</c:f>
              <c:numCache>
                <c:formatCode>0.00%</c:formatCode>
                <c:ptCount val="2"/>
                <c:pt idx="0">
                  <c:v>0.10525405156</c:v>
                </c:pt>
                <c:pt idx="1">
                  <c:v>0.155320780438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250" b="1">
                  <a:solidFill>
                    <a:srgbClr val="123047"/>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8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875">
                <a:solidFill>
                  <a:srgbClr val="123047"/>
                </a:solidFill>
                <a:latin typeface="Liberation Sans"/>
                <a:ea typeface="Liberation Sans"/>
                <a:cs typeface="Liberation Sans"/>
              </a:defRPr>
            </a:pPr>
          </a:p>
        </c:txPr>
        <c:crossAx val="48672768"/>
      </c:catAx>
      <c:valAx>
        <c:axId val="48672768"/>
        <c:scaling>
          <c:orientation val="minMax"/>
          <c:max val="0.2"/>
          <c:min val="0"/>
        </c:scaling>
        <c:delete val="0"/>
        <c:axPos val="l"/>
        <c:majorGridlines>
          <c:spPr>
            <a:ln xmlns:a="http://schemas.openxmlformats.org/drawingml/2006/main" w="9525">
              <a:solidFill>
                <a:srgbClr val="D7E0E2"/>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526A78"/>
                </a:solidFill>
                <a:latin typeface="Liberation Sans"/>
                <a:ea typeface="Liberation Sans"/>
                <a:cs typeface="Liberation Sans"/>
              </a:defRPr>
            </a:pPr>
          </a:p>
        </c:txPr>
        <c:crossAx val="48650112"/>
        <c:crossBetween val="between"/>
        <c:majorUnit val="0.05"/>
      </c:valAx>
      <c:spPr>
        <a:solidFill xmlns:a="http://schemas.openxmlformats.org/drawingml/2006/main">
          <a:srgbClr val="F7F8F5"/>
        </a:solidFill>
        <a:ln xmlns:a="http://schemas.openxmlformats.org/drawingml/2006/main" w="0">
          <a:noFill/>
          <a:prstDash val="solid"/>
        </a:ln>
      </c:spPr>
    </c:plotArea>
    <c:plotVisOnly val="1"/>
  </c:chart>
  <c:spPr>
    <a:solidFill xmlns:a="http://schemas.openxmlformats.org/drawingml/2006/main">
      <a:srgbClr val="F7F8F5"/>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95% Newcombe interval</c:v>
          </c:tx>
          <c:spPr>
            <a:ln xmlns:a="http://schemas.openxmlformats.org/drawingml/2006/main" w="66675">
              <a:solidFill>
                <a:srgbClr val="007E87"/>
              </a:solidFill>
              <a:prstDash val="solid"/>
            </a:ln>
          </c:spPr>
          <c:marker>
            <c:symbol val="circle"/>
            <c:size val="6"/>
            <c:spPr>
              <a:solidFill xmlns:a="http://schemas.openxmlformats.org/drawingml/2006/main">
                <a:srgbClr val="007E87"/>
              </a:solidFill>
            </c:spPr>
          </c:marker>
          <c:xVal>
            <c:numRef>
              <c:f>'Chart Data'!$A$2:$A$3</c:f>
              <c:numCache>
                <c:formatCode>General</c:formatCode>
                <c:ptCount val="2"/>
                <c:pt idx="0">
                  <c:v>4.5092</c:v>
                </c:pt>
                <c:pt idx="1">
                  <c:v>5.5042</c:v>
                </c:pt>
              </c:numCache>
            </c:numRef>
          </c:xVal>
          <c:yVal>
            <c:numRef>
              <c:f>'Chart Data'!$B$2:$B$3</c:f>
              <c:numCache>
                <c:formatCode>General</c:formatCode>
                <c:ptCount val="2"/>
                <c:pt idx="0">
                  <c:v>0.5</c:v>
                </c:pt>
                <c:pt idx="1">
                  <c:v>0.5</c:v>
                </c:pt>
              </c:numCache>
            </c:numRef>
          </c:yVal>
        </c:ser>
        <c:ser>
          <c:idx val="1"/>
          <c:order val="1"/>
          <c:tx>
            <c:v>Estimated difference</c:v>
          </c:tx>
          <c:spPr>
            <a:ln xmlns:a="http://schemas.openxmlformats.org/drawingml/2006/main" w="0">
              <a:noFill/>
              <a:prstDash val="solid"/>
            </a:ln>
          </c:spPr>
          <c:marker>
            <c:symbol val="circle"/>
            <c:size val="15"/>
            <c:spPr>
              <a:solidFill xmlns:a="http://schemas.openxmlformats.org/drawingml/2006/main">
                <a:srgbClr val="123047"/>
              </a:solidFill>
            </c:spPr>
          </c:marker>
          <c:xVal>
            <c:numRef>
              <c:f>'Chart Data'!$C$2:$C$3</c:f>
              <c:numCache>
                <c:formatCode>General</c:formatCode>
                <c:ptCount val="2"/>
                <c:pt idx="0">
                  <c:v>5.0067</c:v>
                </c:pt>
                <c:pt idx="1">
                  <c:v>5.0067</c:v>
                </c:pt>
              </c:numCache>
            </c:numRef>
          </c:xVal>
          <c:yVal>
            <c:numRef>
              <c:f>'Chart Data'!$D$2:$D$3</c:f>
              <c:numCache>
                <c:formatCode>General</c:formatCode>
                <c:ptCount val="2"/>
                <c:pt idx="0">
                  <c:v>0.5</c:v>
                </c:pt>
                <c:pt idx="1">
                  <c:v>0.5</c:v>
                </c:pt>
              </c:numCache>
            </c:numRef>
          </c:yVal>
        </c:ser>
        <c:ser>
          <c:idx val="2"/>
          <c:order val="2"/>
          <c:tx>
            <c:v>No difference</c:v>
          </c:tx>
          <c:spPr>
            <a:ln xmlns:a="http://schemas.openxmlformats.org/drawingml/2006/main" w="19050">
              <a:solidFill>
                <a:srgbClr val="8296A2"/>
              </a:solidFill>
              <a:prstDash val="dash"/>
            </a:ln>
          </c:spPr>
          <c:marker>
            <c:symbol val="none"/>
          </c:marker>
          <c:xVal>
            <c:numRef>
              <c:f>'Chart Data'!$E$2:$E$3</c:f>
              <c:numCache>
                <c:formatCode>General</c:formatCode>
                <c:ptCount val="2"/>
                <c:pt idx="0">
                  <c:v>0</c:v>
                </c:pt>
                <c:pt idx="1">
                  <c:v>0</c:v>
                </c:pt>
              </c:numCache>
            </c:numRef>
          </c:xVal>
          <c:yVal>
            <c:numRef>
              <c:f>'Chart Data'!$F$2:$F$3</c:f>
              <c:numCache>
                <c:formatCode>General</c:formatCode>
                <c:ptCount val="2"/>
                <c:pt idx="0">
                  <c:v>0</c:v>
                </c:pt>
                <c:pt idx="1">
                  <c:v>1</c:v>
                </c:pt>
              </c:numCache>
            </c:numRef>
          </c:yVal>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1"/>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526A78"/>
                </a:solidFill>
                <a:latin typeface="Liberation Sans"/>
                <a:ea typeface="Liberation Sans"/>
                <a:cs typeface="Liberation Sans"/>
              </a:defRPr>
            </a:pPr>
          </a:p>
        </c:txPr>
        <c:crossAx val="48650112"/>
      </c:valAx>
      <c:valAx>
        <c:axId val="48650112"/>
        <c:scaling>
          <c:orientation val="minMax"/>
          <c:max val="6"/>
          <c:min val="0"/>
        </c:scaling>
        <c:delete val="0"/>
        <c:axPos val="b"/>
        <c:majorGridlines>
          <c:spPr>
            <a:ln xmlns:a="http://schemas.openxmlformats.org/drawingml/2006/main" w="9525">
              <a:solidFill>
                <a:srgbClr val="D7E0E2"/>
              </a:solidFill>
              <a:prstDash val="solid"/>
            </a:ln>
          </c:spPr>
        </c:majorGridlines>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526A78"/>
                </a:solidFill>
                <a:latin typeface="Liberation Sans"/>
                <a:ea typeface="Liberation Sans"/>
                <a:cs typeface="Liberation Sans"/>
              </a:defRPr>
            </a:pPr>
          </a:p>
        </c:txPr>
        <c:crossAx val="48672768"/>
        <c:majorUnit val="1"/>
      </c:valAx>
      <c:spPr>
        <a:solidFill xmlns:a="http://schemas.openxmlformats.org/drawingml/2006/main">
          <a:srgbClr val="F7F8F5"/>
        </a:solidFill>
        <a:ln xmlns:a="http://schemas.openxmlformats.org/drawingml/2006/main" w="0">
          <a:noFill/>
          <a:prstDash val="solid"/>
        </a:ln>
      </c:spPr>
    </c:plotArea>
    <c:plotVisOnly val="1"/>
  </c:chart>
  <c:spPr>
    <a:solidFill xmlns:a="http://schemas.openxmlformats.org/drawingml/2006/main">
      <a:srgbClr val="F7F8F5"/>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Control</c:v>
          </c:tx>
          <c:spPr>
            <a:solidFill xmlns:a="http://schemas.openxmlformats.org/drawingml/2006/main">
              <a:srgbClr val="8296A2"/>
            </a:solidFill>
          </c:spPr>
          <c:invertIfNegative val="0"/>
          <c:cat>
            <c:strRef>
              <c:f>'Chart Data'!$A$2:$A$4</c:f>
              <c:strCache>
                <c:ptCount val="3"/>
                <c:pt idx="0">
                  <c:v>Canada</c:v>
                </c:pt>
                <c:pt idx="1">
                  <c:v>UK</c:v>
                </c:pt>
                <c:pt idx="2">
                  <c:v>US</c:v>
                </c:pt>
              </c:strCache>
            </c:strRef>
          </c:cat>
          <c:val>
            <c:numRef>
              <c:f>'Chart Data'!$B$2:$B$4</c:f>
              <c:numCache>
                <c:formatCode>0.0%</c:formatCode>
                <c:ptCount val="3"/>
                <c:pt idx="0">
                  <c:v>0.094474153298</c:v>
                </c:pt>
                <c:pt idx="1">
                  <c:v>0.101648664014</c:v>
                </c:pt>
                <c:pt idx="2">
                  <c:v>0.107314049587</c:v>
                </c:pt>
              </c:numCache>
            </c:numRef>
          </c:val>
        </c:ser>
        <c:ser>
          <c:idx val="1"/>
          <c:order val="1"/>
          <c:tx>
            <c:v>Treatment</c:v>
          </c:tx>
          <c:spPr>
            <a:solidFill xmlns:a="http://schemas.openxmlformats.org/drawingml/2006/main">
              <a:srgbClr val="007E87"/>
            </a:solidFill>
          </c:spPr>
          <c:invertIfNegative val="0"/>
          <c:cat>
            <c:strRef>
              <c:f>'Chart Data'!$C$2:$C$4</c:f>
              <c:strCache>
                <c:ptCount val="3"/>
                <c:pt idx="0">
                  <c:v>Canada</c:v>
                </c:pt>
                <c:pt idx="1">
                  <c:v>UK</c:v>
                </c:pt>
                <c:pt idx="2">
                  <c:v>US</c:v>
                </c:pt>
              </c:strCache>
            </c:strRef>
          </c:cat>
          <c:val>
            <c:numRef>
              <c:f>'Chart Data'!$D$2:$D$4</c:f>
              <c:numCache>
                <c:formatCode>0.0%</c:formatCode>
                <c:ptCount val="3"/>
                <c:pt idx="0">
                  <c:v>0.154016620499</c:v>
                </c:pt>
                <c:pt idx="1">
                  <c:v>0.148698035633</c:v>
                </c:pt>
                <c:pt idx="2">
                  <c:v>0.157768762677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23047"/>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725">
                <a:solidFill>
                  <a:srgbClr val="123047"/>
                </a:solidFill>
                <a:latin typeface="Liberation Sans"/>
                <a:ea typeface="Liberation Sans"/>
                <a:cs typeface="Liberation Sans"/>
              </a:defRPr>
            </a:pPr>
          </a:p>
        </c:txPr>
        <c:crossAx val="48672768"/>
      </c:catAx>
      <c:valAx>
        <c:axId val="48672768"/>
        <c:scaling>
          <c:orientation val="minMax"/>
          <c:max val="0.2"/>
          <c:min val="0"/>
        </c:scaling>
        <c:delete val="0"/>
        <c:axPos val="l"/>
        <c:majorGridlines>
          <c:spPr>
            <a:ln xmlns:a="http://schemas.openxmlformats.org/drawingml/2006/main" w="9525">
              <a:solidFill>
                <a:srgbClr val="D7E0E2"/>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526A78"/>
                </a:solidFill>
                <a:latin typeface="Liberation Sans"/>
                <a:ea typeface="Liberation Sans"/>
                <a:cs typeface="Liberation Sans"/>
              </a:defRPr>
            </a:pPr>
          </a:p>
        </c:txPr>
        <c:crossAx val="48650112"/>
        <c:crossBetween val="between"/>
        <c:majorUnit val="0.05"/>
      </c:valAx>
      <c:spPr>
        <a:solidFill xmlns:a="http://schemas.openxmlformats.org/drawingml/2006/main">
          <a:srgbClr val="F7F8F5"/>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23047"/>
              </a:solidFill>
              <a:latin typeface="Liberation Sans"/>
              <a:ea typeface="Liberation Sans"/>
              <a:cs typeface="Liberation Sans"/>
            </a:defRPr>
          </a:pPr>
        </a:p>
      </c:txPr>
    </c:legend>
    <c:plotVisOnly val="1"/>
  </c:chart>
  <c:spPr>
    <a:solidFill xmlns:a="http://schemas.openxmlformats.org/drawingml/2006/main">
      <a:srgbClr val="F7F8F5"/>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233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DFA8BFB-D786-4178-A07F-17E21BDAEABC}"/>
              </a:ext>
            </a:extLst>
          </p:cNvPr>
          <p:cNvPicPr>
            <a:picLocks xmlns:a="http://schemas.openxmlformats.org/drawingml/2006/main" noChangeAspect="1"/>
          </p:cNvPicPr>
          <p:nvPr/>
        </p:nvPicPr>
        <p:blipFill>
          <a:blip xmlns:r="http://schemas.openxmlformats.org/officeDocument/2006/relationships" xmlns:a="http://schemas.openxmlformats.org/drawingml/2006/main" r:embed="R11d03f5cadb94fe7"/>
          <a:srcRect xmlns:a="http://schemas.openxmlformats.org/drawingml/2006/main" l="0" t="0" r="0" b="0"/>
          <a:stretch xmlns:a="http://schemas.openxmlformats.org/drawingml/2006/main">
            <a:fillRect l="0" t="0" r="0" b="0"/>
          </a:stretch>
        </p:blipFill>
        <p:spPr>
          <a:xfrm xmlns:a="http://schemas.openxmlformats.org/drawingml/2006/main">
            <a:off x="7620000" y="0"/>
            <a:ext cx="457200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7872AE9D-D229-4ACB-AE79-D519AA7EF2D2}"/>
              </a:ext>
            </a:extLst>
          </p:cNvPr>
          <p:cNvSpPr>
            <a:spLocks xmlns:a="http://schemas.openxmlformats.org/drawingml/2006/main" noGrp="1"/>
          </p:cNvSpPr>
          <p:nvPr/>
        </p:nvSpPr>
        <p:spPr>
          <a:xfrm xmlns:a="http://schemas.openxmlformats.org/drawingml/2006/main">
            <a:off x="609600" y="1428750"/>
            <a:ext cx="685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b="1">
                <a:solidFill>
                  <a:srgbClr val="FFFFFF"/>
                </a:solidFill>
                <a:latin typeface="Liberation Sans"/>
                <a:ea typeface="Liberation Sans"/>
                <a:cs typeface="Liberation Sans"/>
              </a:defRPr>
            </a:defPPr>
            <a:lvl1pPr>
              <a:buNone/>
              <a:defRPr sz="4500" b="1">
                <a:solidFill>
                  <a:srgbClr val="FFFFFF"/>
                </a:solidFill>
                <a:latin typeface="Liberation Sans"/>
                <a:ea typeface="Liberation Sans"/>
                <a:cs typeface="Liberation Sans"/>
              </a:defRPr>
            </a:lvl1pPr>
            <a:lvl2pPr>
              <a:buNone/>
              <a:defRPr sz="4500" b="1">
                <a:solidFill>
                  <a:srgbClr val="FFFFFF"/>
                </a:solidFill>
                <a:latin typeface="Liberation Sans"/>
                <a:ea typeface="Liberation Sans"/>
                <a:cs typeface="Liberation Sans"/>
              </a:defRPr>
            </a:lvl2pPr>
            <a:lvl3pPr>
              <a:buNone/>
              <a:defRPr sz="4500" b="1">
                <a:solidFill>
                  <a:srgbClr val="FFFFFF"/>
                </a:solidFill>
                <a:latin typeface="Liberation Sans"/>
                <a:ea typeface="Liberation Sans"/>
                <a:cs typeface="Liberation Sans"/>
              </a:defRPr>
            </a:lvl3pPr>
            <a:lvl4pPr>
              <a:buNone/>
              <a:defRPr sz="4500" b="1">
                <a:solidFill>
                  <a:srgbClr val="FFFFFF"/>
                </a:solidFill>
                <a:latin typeface="Liberation Sans"/>
                <a:ea typeface="Liberation Sans"/>
                <a:cs typeface="Liberation Sans"/>
              </a:defRPr>
            </a:lvl4pPr>
            <a:lvl5pPr>
              <a:buNone/>
              <a:defRPr sz="4500" b="1">
                <a:solidFill>
                  <a:srgbClr val="FFFFFF"/>
                </a:solidFill>
                <a:latin typeface="Liberation Sans"/>
                <a:ea typeface="Liberation Sans"/>
                <a:cs typeface="Liberation Sans"/>
              </a:defRPr>
            </a:lvl5pPr>
            <a:lvl6pPr>
              <a:buNone/>
              <a:defRPr sz="4500" b="1">
                <a:solidFill>
                  <a:srgbClr val="FFFFFF"/>
                </a:solidFill>
                <a:latin typeface="Liberation Sans"/>
                <a:ea typeface="Liberation Sans"/>
                <a:cs typeface="Liberation Sans"/>
              </a:defRPr>
            </a:lvl6pPr>
            <a:lvl7pPr>
              <a:buNone/>
              <a:defRPr sz="4500" b="1">
                <a:solidFill>
                  <a:srgbClr val="FFFFFF"/>
                </a:solidFill>
                <a:latin typeface="Liberation Sans"/>
                <a:ea typeface="Liberation Sans"/>
                <a:cs typeface="Liberation Sans"/>
              </a:defRPr>
            </a:lvl7pPr>
            <a:lvl8pPr>
              <a:buNone/>
              <a:defRPr sz="4500" b="1">
                <a:solidFill>
                  <a:srgbClr val="FFFFFF"/>
                </a:solidFill>
                <a:latin typeface="Liberation Sans"/>
                <a:ea typeface="Liberation Sans"/>
                <a:cs typeface="Liberation Sans"/>
              </a:defRPr>
            </a:lvl8pPr>
            <a:lvl9pPr>
              <a:buNone/>
              <a:defRPr sz="4500" b="1">
                <a:solidFill>
                  <a:srgbClr val="FFFFFF"/>
                </a:solidFill>
                <a:latin typeface="Liberation Sans"/>
                <a:ea typeface="Liberation Sans"/>
                <a:cs typeface="Liberation Sans"/>
              </a:defRPr>
            </a:lvl9pPr>
          </a:lstStyle>
          <a:p xmlns:a="http://schemas.openxmlformats.org/drawingml/2006/main">
            <a:pPr>
              <a:buNone/>
              <a:defRPr sz="4500" b="1">
                <a:solidFill>
                  <a:srgbClr val="FFFFFF"/>
                </a:solidFill>
                <a:latin typeface="Liberation Sans"/>
                <a:ea typeface="Liberation Sans"/>
                <a:cs typeface="Liberation Sans"/>
              </a:defRPr>
            </a:pPr>
            <a:r>
              <a:rPr sz="4500" b="1">
                <a:solidFill>
                  <a:srgbClr val="FFFFFF"/>
                </a:solidFill>
                <a:latin typeface="Liberation Sans"/>
                <a:ea typeface="Liberation Sans"/>
                <a:cs typeface="Liberation Sans"/>
              </a:rPr>
              <a:t>A conversion lift</a:t>
            </a:r>
          </a:p>
          <a:p xmlns:a="http://schemas.openxmlformats.org/drawingml/2006/main">
            <a:pPr>
              <a:buNone/>
              <a:defRPr sz="4500" b="1">
                <a:solidFill>
                  <a:srgbClr val="FFFFFF"/>
                </a:solidFill>
                <a:latin typeface="Liberation Sans"/>
                <a:ea typeface="Liberation Sans"/>
                <a:cs typeface="Liberation Sans"/>
              </a:defRPr>
            </a:pPr>
            <a:r>
              <a:rPr sz="4500" b="1">
                <a:solidFill>
                  <a:srgbClr val="FFFFFF"/>
                </a:solidFill>
                <a:latin typeface="Liberation Sans"/>
                <a:ea typeface="Liberation Sans"/>
                <a:cs typeface="Liberation Sans"/>
              </a:rPr>
              <a:t>worth investigating</a:t>
            </a:r>
          </a:p>
        </p:txBody>
      </p:sp>
      <p:sp>
        <p:nvSpPr>
          <p:cNvPr id="3" name="cover-subtitle">
            <a:extLst xmlns:a="http://schemas.openxmlformats.org/drawingml/2006/main">
              <a:ext uri="{FF2B5EF4-FFF2-40B4-BE49-F238E27FC236}">
                <a16:creationId xmlns:a16="http://schemas.microsoft.com/office/drawing/2014/main" id="{89EB931A-1CF9-45D6-9A74-3B57AEE6E23D}"/>
              </a:ext>
            </a:extLst>
          </p:cNvPr>
          <p:cNvSpPr>
            <a:spLocks xmlns:a="http://schemas.openxmlformats.org/drawingml/2006/main" noGrp="1"/>
          </p:cNvSpPr>
          <p:nvPr/>
        </p:nvSpPr>
        <p:spPr>
          <a:xfrm xmlns:a="http://schemas.openxmlformats.org/drawingml/2006/main">
            <a:off x="609600" y="3619500"/>
            <a:ext cx="619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B8E8E6"/>
                </a:solidFill>
                <a:latin typeface="Liberation Sans"/>
                <a:ea typeface="Liberation Sans"/>
                <a:cs typeface="Liberation Sans"/>
              </a:defRPr>
            </a:defPPr>
            <a:lvl1pPr>
              <a:buNone/>
              <a:defRPr sz="2400" b="0">
                <a:solidFill>
                  <a:srgbClr val="B8E8E6"/>
                </a:solidFill>
                <a:latin typeface="Liberation Sans"/>
                <a:ea typeface="Liberation Sans"/>
                <a:cs typeface="Liberation Sans"/>
              </a:defRPr>
            </a:lvl1pPr>
            <a:lvl2pPr>
              <a:buNone/>
              <a:defRPr sz="2400" b="0">
                <a:solidFill>
                  <a:srgbClr val="B8E8E6"/>
                </a:solidFill>
                <a:latin typeface="Liberation Sans"/>
                <a:ea typeface="Liberation Sans"/>
                <a:cs typeface="Liberation Sans"/>
              </a:defRPr>
            </a:lvl2pPr>
            <a:lvl3pPr>
              <a:buNone/>
              <a:defRPr sz="2400" b="0">
                <a:solidFill>
                  <a:srgbClr val="B8E8E6"/>
                </a:solidFill>
                <a:latin typeface="Liberation Sans"/>
                <a:ea typeface="Liberation Sans"/>
                <a:cs typeface="Liberation Sans"/>
              </a:defRPr>
            </a:lvl3pPr>
            <a:lvl4pPr>
              <a:buNone/>
              <a:defRPr sz="2400" b="0">
                <a:solidFill>
                  <a:srgbClr val="B8E8E6"/>
                </a:solidFill>
                <a:latin typeface="Liberation Sans"/>
                <a:ea typeface="Liberation Sans"/>
                <a:cs typeface="Liberation Sans"/>
              </a:defRPr>
            </a:lvl4pPr>
            <a:lvl5pPr>
              <a:buNone/>
              <a:defRPr sz="2400" b="0">
                <a:solidFill>
                  <a:srgbClr val="B8E8E6"/>
                </a:solidFill>
                <a:latin typeface="Liberation Sans"/>
                <a:ea typeface="Liberation Sans"/>
                <a:cs typeface="Liberation Sans"/>
              </a:defRPr>
            </a:lvl5pPr>
            <a:lvl6pPr>
              <a:buNone/>
              <a:defRPr sz="2400" b="0">
                <a:solidFill>
                  <a:srgbClr val="B8E8E6"/>
                </a:solidFill>
                <a:latin typeface="Liberation Sans"/>
                <a:ea typeface="Liberation Sans"/>
                <a:cs typeface="Liberation Sans"/>
              </a:defRPr>
            </a:lvl6pPr>
            <a:lvl7pPr>
              <a:buNone/>
              <a:defRPr sz="2400" b="0">
                <a:solidFill>
                  <a:srgbClr val="B8E8E6"/>
                </a:solidFill>
                <a:latin typeface="Liberation Sans"/>
                <a:ea typeface="Liberation Sans"/>
                <a:cs typeface="Liberation Sans"/>
              </a:defRPr>
            </a:lvl7pPr>
            <a:lvl8pPr>
              <a:buNone/>
              <a:defRPr sz="2400" b="0">
                <a:solidFill>
                  <a:srgbClr val="B8E8E6"/>
                </a:solidFill>
                <a:latin typeface="Liberation Sans"/>
                <a:ea typeface="Liberation Sans"/>
                <a:cs typeface="Liberation Sans"/>
              </a:defRPr>
            </a:lvl8pPr>
            <a:lvl9pPr>
              <a:buNone/>
              <a:defRPr sz="2400" b="0">
                <a:solidFill>
                  <a:srgbClr val="B8E8E6"/>
                </a:solidFill>
                <a:latin typeface="Liberation Sans"/>
                <a:ea typeface="Liberation Sans"/>
                <a:cs typeface="Liberation Sans"/>
              </a:defRPr>
            </a:lvl9pPr>
          </a:lstStyle>
          <a:p xmlns:a="http://schemas.openxmlformats.org/drawingml/2006/main">
            <a:pPr>
              <a:buNone/>
              <a:defRPr sz="2400" b="0">
                <a:solidFill>
                  <a:srgbClr val="B8E8E6"/>
                </a:solidFill>
                <a:latin typeface="Liberation Sans"/>
                <a:ea typeface="Liberation Sans"/>
                <a:cs typeface="Liberation Sans"/>
              </a:defRPr>
            </a:pPr>
            <a:r>
              <a:rPr sz="2400" b="0">
                <a:solidFill>
                  <a:srgbClr val="B8E8E6"/>
                </a:solidFill>
                <a:latin typeface="Liberation Sans"/>
                <a:ea typeface="Liberation Sans"/>
                <a:cs typeface="Liberation Sans"/>
              </a:rPr>
              <a:t>E-commerce A/B testing</a:t>
            </a:r>
          </a:p>
          <a:p xmlns:a="http://schemas.openxmlformats.org/drawingml/2006/main">
            <a:pPr>
              <a:buNone/>
              <a:defRPr sz="2400" b="0">
                <a:solidFill>
                  <a:srgbClr val="B8E8E6"/>
                </a:solidFill>
                <a:latin typeface="Liberation Sans"/>
                <a:ea typeface="Liberation Sans"/>
                <a:cs typeface="Liberation Sans"/>
              </a:defRPr>
            </a:pPr>
            <a:r>
              <a:rPr sz="2400" b="0">
                <a:solidFill>
                  <a:srgbClr val="B8E8E6"/>
                </a:solidFill>
                <a:latin typeface="Liberation Sans"/>
                <a:ea typeface="Liberation Sans"/>
                <a:cs typeface="Liberation Sans"/>
              </a:rPr>
              <a:t>and regression analysis</a:t>
            </a:r>
          </a:p>
        </p:txBody>
      </p:sp>
    </p:spTree>
    <p:extLst>
      <p:ext uri="{BB962C8B-B14F-4D97-AF65-F5344CB8AC3E}">
        <p14:creationId xmlns:p14="http://schemas.microsoft.com/office/powerpoint/2010/main" val="1418659364"/>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862C420D-FC59-4085-A2F0-339ED47DAF43}"/>
              </a:ext>
            </a:extLst>
          </p:cNvPr>
          <p:cNvSpPr>
            <a:spLocks xmlns:a="http://schemas.openxmlformats.org/drawingml/2006/main" noGrp="1"/>
          </p:cNvSpPr>
          <p:nvPr/>
        </p:nvSpPr>
        <p:spPr>
          <a:xfrm xmlns:a="http://schemas.openxmlformats.org/drawingml/2006/main">
            <a:off x="609600" y="495300"/>
            <a:ext cx="1097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3047"/>
                </a:solidFill>
                <a:latin typeface="Liberation Sans"/>
                <a:ea typeface="Liberation Sans"/>
                <a:cs typeface="Liberation Sans"/>
              </a:defRPr>
            </a:defPPr>
            <a:lvl1pPr>
              <a:defRPr sz="3300" b="1">
                <a:solidFill>
                  <a:srgbClr val="123047"/>
                </a:solidFill>
                <a:latin typeface="Liberation Sans"/>
                <a:ea typeface="Liberation Sans"/>
                <a:cs typeface="Liberation Sans"/>
              </a:defRPr>
            </a:lvl1pPr>
            <a:lvl2pPr>
              <a:defRPr sz="3300" b="1">
                <a:solidFill>
                  <a:srgbClr val="123047"/>
                </a:solidFill>
                <a:latin typeface="Liberation Sans"/>
                <a:ea typeface="Liberation Sans"/>
                <a:cs typeface="Liberation Sans"/>
              </a:defRPr>
            </a:lvl2pPr>
            <a:lvl3pPr>
              <a:defRPr sz="3300" b="1">
                <a:solidFill>
                  <a:srgbClr val="123047"/>
                </a:solidFill>
                <a:latin typeface="Liberation Sans"/>
                <a:ea typeface="Liberation Sans"/>
                <a:cs typeface="Liberation Sans"/>
              </a:defRPr>
            </a:lvl3pPr>
            <a:lvl4pPr>
              <a:defRPr sz="3300" b="1">
                <a:solidFill>
                  <a:srgbClr val="123047"/>
                </a:solidFill>
                <a:latin typeface="Liberation Sans"/>
                <a:ea typeface="Liberation Sans"/>
                <a:cs typeface="Liberation Sans"/>
              </a:defRPr>
            </a:lvl4pPr>
            <a:lvl5pPr>
              <a:defRPr sz="3300" b="1">
                <a:solidFill>
                  <a:srgbClr val="123047"/>
                </a:solidFill>
                <a:latin typeface="Liberation Sans"/>
                <a:ea typeface="Liberation Sans"/>
                <a:cs typeface="Liberation Sans"/>
              </a:defRPr>
            </a:lvl5pPr>
            <a:lvl6pPr>
              <a:defRPr sz="3300" b="1">
                <a:solidFill>
                  <a:srgbClr val="123047"/>
                </a:solidFill>
                <a:latin typeface="Liberation Sans"/>
                <a:ea typeface="Liberation Sans"/>
                <a:cs typeface="Liberation Sans"/>
              </a:defRPr>
            </a:lvl6pPr>
            <a:lvl7pPr>
              <a:defRPr sz="3300" b="1">
                <a:solidFill>
                  <a:srgbClr val="123047"/>
                </a:solidFill>
                <a:latin typeface="Liberation Sans"/>
                <a:ea typeface="Liberation Sans"/>
                <a:cs typeface="Liberation Sans"/>
              </a:defRPr>
            </a:lvl7pPr>
            <a:lvl8pPr>
              <a:defRPr sz="3300" b="1">
                <a:solidFill>
                  <a:srgbClr val="123047"/>
                </a:solidFill>
                <a:latin typeface="Liberation Sans"/>
                <a:ea typeface="Liberation Sans"/>
                <a:cs typeface="Liberation Sans"/>
              </a:defRPr>
            </a:lvl8pPr>
            <a:lvl9pPr>
              <a:defRPr sz="3300" b="1">
                <a:solidFill>
                  <a:srgbClr val="123047"/>
                </a:solidFill>
                <a:latin typeface="Liberation Sans"/>
                <a:ea typeface="Liberation Sans"/>
                <a:cs typeface="Liberation Sans"/>
              </a:defRPr>
            </a:lvl9pPr>
          </a:lstStyle>
          <a:p xmlns:a="http://schemas.openxmlformats.org/drawingml/2006/main">
            <a:pPr>
              <a:defRPr sz="3300" b="1">
                <a:solidFill>
                  <a:srgbClr val="123047"/>
                </a:solidFill>
                <a:latin typeface="Liberation Sans"/>
                <a:ea typeface="Liberation Sans"/>
                <a:cs typeface="Liberation Sans"/>
              </a:defRPr>
            </a:pPr>
            <a:r>
              <a:rPr sz="3300" b="1">
                <a:solidFill>
                  <a:srgbClr val="123047"/>
                </a:solidFill>
                <a:latin typeface="Liberation Sans"/>
                <a:ea typeface="Liberation Sans"/>
                <a:cs typeface="Liberation Sans"/>
              </a:rPr>
              <a:t>Treatment conversion is higher</a:t>
            </a:r>
          </a:p>
        </p:txBody>
      </p:sp>
      <p:sp>
        <p:nvSpPr>
          <p:cNvPr id="2" name="slide-number">
            <a:extLst xmlns:a="http://schemas.openxmlformats.org/drawingml/2006/main">
              <a:ext uri="{FF2B5EF4-FFF2-40B4-BE49-F238E27FC236}">
                <a16:creationId xmlns:a16="http://schemas.microsoft.com/office/drawing/2014/main" id="{E5F4C9AF-C078-48DF-B799-4BAB8C53BB7C}"/>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26A78"/>
                </a:solidFill>
                <a:latin typeface="Liberation Sans"/>
                <a:ea typeface="Liberation Sans"/>
                <a:cs typeface="Liberation Sans"/>
              </a:defRPr>
            </a:defPPr>
            <a:lvl1pPr>
              <a:defRPr sz="1350" b="0">
                <a:solidFill>
                  <a:srgbClr val="526A78"/>
                </a:solidFill>
                <a:latin typeface="Liberation Sans"/>
                <a:ea typeface="Liberation Sans"/>
                <a:cs typeface="Liberation Sans"/>
              </a:defRPr>
            </a:lvl1pPr>
            <a:lvl2pPr>
              <a:defRPr sz="1350" b="0">
                <a:solidFill>
                  <a:srgbClr val="526A78"/>
                </a:solidFill>
                <a:latin typeface="Liberation Sans"/>
                <a:ea typeface="Liberation Sans"/>
                <a:cs typeface="Liberation Sans"/>
              </a:defRPr>
            </a:lvl2pPr>
            <a:lvl3pPr>
              <a:defRPr sz="1350" b="0">
                <a:solidFill>
                  <a:srgbClr val="526A78"/>
                </a:solidFill>
                <a:latin typeface="Liberation Sans"/>
                <a:ea typeface="Liberation Sans"/>
                <a:cs typeface="Liberation Sans"/>
              </a:defRPr>
            </a:lvl3pPr>
            <a:lvl4pPr>
              <a:defRPr sz="1350" b="0">
                <a:solidFill>
                  <a:srgbClr val="526A78"/>
                </a:solidFill>
                <a:latin typeface="Liberation Sans"/>
                <a:ea typeface="Liberation Sans"/>
                <a:cs typeface="Liberation Sans"/>
              </a:defRPr>
            </a:lvl4pPr>
            <a:lvl5pPr>
              <a:defRPr sz="1350" b="0">
                <a:solidFill>
                  <a:srgbClr val="526A78"/>
                </a:solidFill>
                <a:latin typeface="Liberation Sans"/>
                <a:ea typeface="Liberation Sans"/>
                <a:cs typeface="Liberation Sans"/>
              </a:defRPr>
            </a:lvl5pPr>
            <a:lvl6pPr>
              <a:defRPr sz="1350" b="0">
                <a:solidFill>
                  <a:srgbClr val="526A78"/>
                </a:solidFill>
                <a:latin typeface="Liberation Sans"/>
                <a:ea typeface="Liberation Sans"/>
                <a:cs typeface="Liberation Sans"/>
              </a:defRPr>
            </a:lvl6pPr>
            <a:lvl7pPr>
              <a:defRPr sz="1350" b="0">
                <a:solidFill>
                  <a:srgbClr val="526A78"/>
                </a:solidFill>
                <a:latin typeface="Liberation Sans"/>
                <a:ea typeface="Liberation Sans"/>
                <a:cs typeface="Liberation Sans"/>
              </a:defRPr>
            </a:lvl7pPr>
            <a:lvl8pPr>
              <a:defRPr sz="1350" b="0">
                <a:solidFill>
                  <a:srgbClr val="526A78"/>
                </a:solidFill>
                <a:latin typeface="Liberation Sans"/>
                <a:ea typeface="Liberation Sans"/>
                <a:cs typeface="Liberation Sans"/>
              </a:defRPr>
            </a:lvl8pPr>
            <a:lvl9pPr>
              <a:defRPr sz="1350" b="0">
                <a:solidFill>
                  <a:srgbClr val="526A78"/>
                </a:solidFill>
                <a:latin typeface="Liberation Sans"/>
                <a:ea typeface="Liberation Sans"/>
                <a:cs typeface="Liberation Sans"/>
              </a:defRPr>
            </a:lvl9pPr>
          </a:lstStyle>
          <a:p xmlns:a="http://schemas.openxmlformats.org/drawingml/2006/main">
            <a:pPr>
              <a:defRPr sz="1350" b="0">
                <a:solidFill>
                  <a:srgbClr val="526A78"/>
                </a:solidFill>
                <a:latin typeface="Liberation Sans"/>
                <a:ea typeface="Liberation Sans"/>
                <a:cs typeface="Liberation Sans"/>
              </a:defRPr>
            </a:pPr>
            <a:r>
              <a:rPr sz="1350" b="0">
                <a:solidFill>
                  <a:srgbClr val="526A78"/>
                </a:solidFill>
                <a:latin typeface="Liberation Sans"/>
                <a:ea typeface="Liberation Sans"/>
                <a:cs typeface="Liberation Sans"/>
              </a:rPr>
              <a:t>02</a:t>
            </a:r>
          </a:p>
        </p:txBody>
      </p:sp>
      <p:graphicFrame>
        <p:nvGraphicFramePr>
          <p:cNvPr id="3" name="Chart">
            <a:extLst xmlns:a="http://schemas.openxmlformats.org/drawingml/2006/main">
              <a:ext uri="{FF2B5EF4-FFF2-40B4-BE49-F238E27FC236}">
                <a16:creationId xmlns:a16="http://schemas.microsoft.com/office/drawing/2014/main" id="{F60FF6F9-5065-4C83-AF80-65CDCAEDAC05}"/>
              </a:ext>
            </a:extLst>
          </p:cNvPr>
          <p:cNvGraphicFramePr/>
          <p:nvPr/>
        </p:nvGraphicFramePr>
        <p:xfrm>
          <a:off xmlns:a="http://schemas.openxmlformats.org/drawingml/2006/main" x="609600" y="1762125"/>
          <a:ext xmlns:a="http://schemas.openxmlformats.org/drawingml/2006/main" cx="7124700" cy="4000500"/>
        </p:xfrm>
        <a:graphic xmlns:a="http://schemas.openxmlformats.org/drawingml/2006/main">
          <a:graphicData uri="http://schemas.openxmlformats.org/drawingml/2006/chart">
            <c:chart xmlns:r="http://schemas.openxmlformats.org/officeDocument/2006/relationships" xmlns:c="http://schemas.openxmlformats.org/drawingml/2006/chart" r:id="R7646f876b4a546ac"/>
          </a:graphicData>
        </a:graphic>
      </p:graphicFrame>
      <p:sp>
        <p:nvSpPr>
          <p:cNvPr id="4" name="absolute-lift">
            <a:extLst xmlns:a="http://schemas.openxmlformats.org/drawingml/2006/main">
              <a:ext uri="{FF2B5EF4-FFF2-40B4-BE49-F238E27FC236}">
                <a16:creationId xmlns:a16="http://schemas.microsoft.com/office/drawing/2014/main" id="{C5F4019E-E7C6-47E5-96C8-3A73480F2ABD}"/>
              </a:ext>
            </a:extLst>
          </p:cNvPr>
          <p:cNvSpPr>
            <a:spLocks xmlns:a="http://schemas.openxmlformats.org/drawingml/2006/main" noGrp="1"/>
          </p:cNvSpPr>
          <p:nvPr/>
        </p:nvSpPr>
        <p:spPr>
          <a:xfrm xmlns:a="http://schemas.openxmlformats.org/drawingml/2006/main">
            <a:off x="8286750" y="2095500"/>
            <a:ext cx="3295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200" b="1">
                <a:solidFill>
                  <a:srgbClr val="007E87"/>
                </a:solidFill>
                <a:latin typeface="Liberation Sans"/>
                <a:ea typeface="Liberation Sans"/>
                <a:cs typeface="Liberation Sans"/>
              </a:defRPr>
            </a:defPPr>
            <a:lvl1pPr>
              <a:defRPr sz="4200" b="1">
                <a:solidFill>
                  <a:srgbClr val="007E87"/>
                </a:solidFill>
                <a:latin typeface="Liberation Sans"/>
                <a:ea typeface="Liberation Sans"/>
                <a:cs typeface="Liberation Sans"/>
              </a:defRPr>
            </a:lvl1pPr>
            <a:lvl2pPr>
              <a:defRPr sz="4200" b="1">
                <a:solidFill>
                  <a:srgbClr val="007E87"/>
                </a:solidFill>
                <a:latin typeface="Liberation Sans"/>
                <a:ea typeface="Liberation Sans"/>
                <a:cs typeface="Liberation Sans"/>
              </a:defRPr>
            </a:lvl2pPr>
            <a:lvl3pPr>
              <a:defRPr sz="4200" b="1">
                <a:solidFill>
                  <a:srgbClr val="007E87"/>
                </a:solidFill>
                <a:latin typeface="Liberation Sans"/>
                <a:ea typeface="Liberation Sans"/>
                <a:cs typeface="Liberation Sans"/>
              </a:defRPr>
            </a:lvl3pPr>
            <a:lvl4pPr>
              <a:defRPr sz="4200" b="1">
                <a:solidFill>
                  <a:srgbClr val="007E87"/>
                </a:solidFill>
                <a:latin typeface="Liberation Sans"/>
                <a:ea typeface="Liberation Sans"/>
                <a:cs typeface="Liberation Sans"/>
              </a:defRPr>
            </a:lvl4pPr>
            <a:lvl5pPr>
              <a:defRPr sz="4200" b="1">
                <a:solidFill>
                  <a:srgbClr val="007E87"/>
                </a:solidFill>
                <a:latin typeface="Liberation Sans"/>
                <a:ea typeface="Liberation Sans"/>
                <a:cs typeface="Liberation Sans"/>
              </a:defRPr>
            </a:lvl5pPr>
            <a:lvl6pPr>
              <a:defRPr sz="4200" b="1">
                <a:solidFill>
                  <a:srgbClr val="007E87"/>
                </a:solidFill>
                <a:latin typeface="Liberation Sans"/>
                <a:ea typeface="Liberation Sans"/>
                <a:cs typeface="Liberation Sans"/>
              </a:defRPr>
            </a:lvl6pPr>
            <a:lvl7pPr>
              <a:defRPr sz="4200" b="1">
                <a:solidFill>
                  <a:srgbClr val="007E87"/>
                </a:solidFill>
                <a:latin typeface="Liberation Sans"/>
                <a:ea typeface="Liberation Sans"/>
                <a:cs typeface="Liberation Sans"/>
              </a:defRPr>
            </a:lvl7pPr>
            <a:lvl8pPr>
              <a:defRPr sz="4200" b="1">
                <a:solidFill>
                  <a:srgbClr val="007E87"/>
                </a:solidFill>
                <a:latin typeface="Liberation Sans"/>
                <a:ea typeface="Liberation Sans"/>
                <a:cs typeface="Liberation Sans"/>
              </a:defRPr>
            </a:lvl8pPr>
            <a:lvl9pPr>
              <a:defRPr sz="4200" b="1">
                <a:solidFill>
                  <a:srgbClr val="007E87"/>
                </a:solidFill>
                <a:latin typeface="Liberation Sans"/>
                <a:ea typeface="Liberation Sans"/>
                <a:cs typeface="Liberation Sans"/>
              </a:defRPr>
            </a:lvl9pPr>
          </a:lstStyle>
          <a:p xmlns:a="http://schemas.openxmlformats.org/drawingml/2006/main">
            <a:pPr>
              <a:defRPr sz="4200" b="1">
                <a:solidFill>
                  <a:srgbClr val="007E87"/>
                </a:solidFill>
                <a:latin typeface="Liberation Sans"/>
                <a:ea typeface="Liberation Sans"/>
                <a:cs typeface="Liberation Sans"/>
              </a:defRPr>
            </a:pPr>
            <a:r>
              <a:rPr sz="4200" b="1">
                <a:solidFill>
                  <a:srgbClr val="007E87"/>
                </a:solidFill>
                <a:latin typeface="Liberation Sans"/>
                <a:ea typeface="Liberation Sans"/>
                <a:cs typeface="Liberation Sans"/>
              </a:rPr>
              <a:t>+5.01 pp</a:t>
            </a:r>
          </a:p>
        </p:txBody>
      </p:sp>
      <p:sp>
        <p:nvSpPr>
          <p:cNvPr id="5" name="absolute-lift-label">
            <a:extLst xmlns:a="http://schemas.openxmlformats.org/drawingml/2006/main">
              <a:ext uri="{FF2B5EF4-FFF2-40B4-BE49-F238E27FC236}">
                <a16:creationId xmlns:a16="http://schemas.microsoft.com/office/drawing/2014/main" id="{21FEAC6D-47E0-44FA-B2D7-3AA15372C2F4}"/>
              </a:ext>
            </a:extLst>
          </p:cNvPr>
          <p:cNvSpPr>
            <a:spLocks xmlns:a="http://schemas.openxmlformats.org/drawingml/2006/main" noGrp="1"/>
          </p:cNvSpPr>
          <p:nvPr/>
        </p:nvSpPr>
        <p:spPr>
          <a:xfrm xmlns:a="http://schemas.openxmlformats.org/drawingml/2006/main">
            <a:off x="8286750" y="2924175"/>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526A78"/>
                </a:solidFill>
                <a:latin typeface="Liberation Sans"/>
                <a:ea typeface="Liberation Sans"/>
                <a:cs typeface="Liberation Sans"/>
              </a:defRPr>
            </a:defPPr>
            <a:lvl1pPr>
              <a:defRPr sz="1950" b="0">
                <a:solidFill>
                  <a:srgbClr val="526A78"/>
                </a:solidFill>
                <a:latin typeface="Liberation Sans"/>
                <a:ea typeface="Liberation Sans"/>
                <a:cs typeface="Liberation Sans"/>
              </a:defRPr>
            </a:lvl1pPr>
            <a:lvl2pPr>
              <a:defRPr sz="1950" b="0">
                <a:solidFill>
                  <a:srgbClr val="526A78"/>
                </a:solidFill>
                <a:latin typeface="Liberation Sans"/>
                <a:ea typeface="Liberation Sans"/>
                <a:cs typeface="Liberation Sans"/>
              </a:defRPr>
            </a:lvl2pPr>
            <a:lvl3pPr>
              <a:defRPr sz="1950" b="0">
                <a:solidFill>
                  <a:srgbClr val="526A78"/>
                </a:solidFill>
                <a:latin typeface="Liberation Sans"/>
                <a:ea typeface="Liberation Sans"/>
                <a:cs typeface="Liberation Sans"/>
              </a:defRPr>
            </a:lvl3pPr>
            <a:lvl4pPr>
              <a:defRPr sz="1950" b="0">
                <a:solidFill>
                  <a:srgbClr val="526A78"/>
                </a:solidFill>
                <a:latin typeface="Liberation Sans"/>
                <a:ea typeface="Liberation Sans"/>
                <a:cs typeface="Liberation Sans"/>
              </a:defRPr>
            </a:lvl4pPr>
            <a:lvl5pPr>
              <a:defRPr sz="1950" b="0">
                <a:solidFill>
                  <a:srgbClr val="526A78"/>
                </a:solidFill>
                <a:latin typeface="Liberation Sans"/>
                <a:ea typeface="Liberation Sans"/>
                <a:cs typeface="Liberation Sans"/>
              </a:defRPr>
            </a:lvl5pPr>
            <a:lvl6pPr>
              <a:defRPr sz="1950" b="0">
                <a:solidFill>
                  <a:srgbClr val="526A78"/>
                </a:solidFill>
                <a:latin typeface="Liberation Sans"/>
                <a:ea typeface="Liberation Sans"/>
                <a:cs typeface="Liberation Sans"/>
              </a:defRPr>
            </a:lvl6pPr>
            <a:lvl7pPr>
              <a:defRPr sz="1950" b="0">
                <a:solidFill>
                  <a:srgbClr val="526A78"/>
                </a:solidFill>
                <a:latin typeface="Liberation Sans"/>
                <a:ea typeface="Liberation Sans"/>
                <a:cs typeface="Liberation Sans"/>
              </a:defRPr>
            </a:lvl7pPr>
            <a:lvl8pPr>
              <a:defRPr sz="1950" b="0">
                <a:solidFill>
                  <a:srgbClr val="526A78"/>
                </a:solidFill>
                <a:latin typeface="Liberation Sans"/>
                <a:ea typeface="Liberation Sans"/>
                <a:cs typeface="Liberation Sans"/>
              </a:defRPr>
            </a:lvl8pPr>
            <a:lvl9pPr>
              <a:defRPr sz="1950" b="0">
                <a:solidFill>
                  <a:srgbClr val="526A78"/>
                </a:solidFill>
                <a:latin typeface="Liberation Sans"/>
                <a:ea typeface="Liberation Sans"/>
                <a:cs typeface="Liberation Sans"/>
              </a:defRPr>
            </a:lvl9pPr>
          </a:lstStyle>
          <a:p xmlns:a="http://schemas.openxmlformats.org/drawingml/2006/main">
            <a:pPr>
              <a:defRPr sz="1950" b="0">
                <a:solidFill>
                  <a:srgbClr val="526A78"/>
                </a:solidFill>
                <a:latin typeface="Liberation Sans"/>
                <a:ea typeface="Liberation Sans"/>
                <a:cs typeface="Liberation Sans"/>
              </a:defRPr>
            </a:pPr>
            <a:r>
              <a:rPr sz="1950" b="0">
                <a:solidFill>
                  <a:srgbClr val="526A78"/>
                </a:solidFill>
                <a:latin typeface="Liberation Sans"/>
                <a:ea typeface="Liberation Sans"/>
                <a:cs typeface="Liberation Sans"/>
              </a:rPr>
              <a:t>Absolute difference</a:t>
            </a:r>
          </a:p>
        </p:txBody>
      </p:sp>
      <p:sp>
        <p:nvSpPr>
          <p:cNvPr id="6" name="relative-lift">
            <a:extLst xmlns:a="http://schemas.openxmlformats.org/drawingml/2006/main">
              <a:ext uri="{FF2B5EF4-FFF2-40B4-BE49-F238E27FC236}">
                <a16:creationId xmlns:a16="http://schemas.microsoft.com/office/drawing/2014/main" id="{FA22D30D-758C-4898-B471-15D9F53701AC}"/>
              </a:ext>
            </a:extLst>
          </p:cNvPr>
          <p:cNvSpPr>
            <a:spLocks xmlns:a="http://schemas.openxmlformats.org/drawingml/2006/main" noGrp="1"/>
          </p:cNvSpPr>
          <p:nvPr/>
        </p:nvSpPr>
        <p:spPr>
          <a:xfrm xmlns:a="http://schemas.openxmlformats.org/drawingml/2006/main">
            <a:off x="8286750" y="3971925"/>
            <a:ext cx="3295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3047"/>
                </a:solidFill>
                <a:latin typeface="Liberation Sans"/>
                <a:ea typeface="Liberation Sans"/>
                <a:cs typeface="Liberation Sans"/>
              </a:defRPr>
            </a:defPPr>
            <a:lvl1pPr>
              <a:defRPr sz="3300" b="1">
                <a:solidFill>
                  <a:srgbClr val="123047"/>
                </a:solidFill>
                <a:latin typeface="Liberation Sans"/>
                <a:ea typeface="Liberation Sans"/>
                <a:cs typeface="Liberation Sans"/>
              </a:defRPr>
            </a:lvl1pPr>
            <a:lvl2pPr>
              <a:defRPr sz="3300" b="1">
                <a:solidFill>
                  <a:srgbClr val="123047"/>
                </a:solidFill>
                <a:latin typeface="Liberation Sans"/>
                <a:ea typeface="Liberation Sans"/>
                <a:cs typeface="Liberation Sans"/>
              </a:defRPr>
            </a:lvl2pPr>
            <a:lvl3pPr>
              <a:defRPr sz="3300" b="1">
                <a:solidFill>
                  <a:srgbClr val="123047"/>
                </a:solidFill>
                <a:latin typeface="Liberation Sans"/>
                <a:ea typeface="Liberation Sans"/>
                <a:cs typeface="Liberation Sans"/>
              </a:defRPr>
            </a:lvl3pPr>
            <a:lvl4pPr>
              <a:defRPr sz="3300" b="1">
                <a:solidFill>
                  <a:srgbClr val="123047"/>
                </a:solidFill>
                <a:latin typeface="Liberation Sans"/>
                <a:ea typeface="Liberation Sans"/>
                <a:cs typeface="Liberation Sans"/>
              </a:defRPr>
            </a:lvl4pPr>
            <a:lvl5pPr>
              <a:defRPr sz="3300" b="1">
                <a:solidFill>
                  <a:srgbClr val="123047"/>
                </a:solidFill>
                <a:latin typeface="Liberation Sans"/>
                <a:ea typeface="Liberation Sans"/>
                <a:cs typeface="Liberation Sans"/>
              </a:defRPr>
            </a:lvl5pPr>
            <a:lvl6pPr>
              <a:defRPr sz="3300" b="1">
                <a:solidFill>
                  <a:srgbClr val="123047"/>
                </a:solidFill>
                <a:latin typeface="Liberation Sans"/>
                <a:ea typeface="Liberation Sans"/>
                <a:cs typeface="Liberation Sans"/>
              </a:defRPr>
            </a:lvl6pPr>
            <a:lvl7pPr>
              <a:defRPr sz="3300" b="1">
                <a:solidFill>
                  <a:srgbClr val="123047"/>
                </a:solidFill>
                <a:latin typeface="Liberation Sans"/>
                <a:ea typeface="Liberation Sans"/>
                <a:cs typeface="Liberation Sans"/>
              </a:defRPr>
            </a:lvl7pPr>
            <a:lvl8pPr>
              <a:defRPr sz="3300" b="1">
                <a:solidFill>
                  <a:srgbClr val="123047"/>
                </a:solidFill>
                <a:latin typeface="Liberation Sans"/>
                <a:ea typeface="Liberation Sans"/>
                <a:cs typeface="Liberation Sans"/>
              </a:defRPr>
            </a:lvl8pPr>
            <a:lvl9pPr>
              <a:defRPr sz="3300" b="1">
                <a:solidFill>
                  <a:srgbClr val="123047"/>
                </a:solidFill>
                <a:latin typeface="Liberation Sans"/>
                <a:ea typeface="Liberation Sans"/>
                <a:cs typeface="Liberation Sans"/>
              </a:defRPr>
            </a:lvl9pPr>
          </a:lstStyle>
          <a:p xmlns:a="http://schemas.openxmlformats.org/drawingml/2006/main">
            <a:pPr>
              <a:defRPr sz="3300" b="1">
                <a:solidFill>
                  <a:srgbClr val="123047"/>
                </a:solidFill>
                <a:latin typeface="Liberation Sans"/>
                <a:ea typeface="Liberation Sans"/>
                <a:cs typeface="Liberation Sans"/>
              </a:defRPr>
            </a:pPr>
            <a:r>
              <a:rPr sz="3300" b="1">
                <a:solidFill>
                  <a:srgbClr val="123047"/>
                </a:solidFill>
                <a:latin typeface="Liberation Sans"/>
                <a:ea typeface="Liberation Sans"/>
                <a:cs typeface="Liberation Sans"/>
              </a:rPr>
              <a:t>+47.57%</a:t>
            </a:r>
          </a:p>
        </p:txBody>
      </p:sp>
      <p:sp>
        <p:nvSpPr>
          <p:cNvPr id="7" name="relative-lift-label">
            <a:extLst xmlns:a="http://schemas.openxmlformats.org/drawingml/2006/main">
              <a:ext uri="{FF2B5EF4-FFF2-40B4-BE49-F238E27FC236}">
                <a16:creationId xmlns:a16="http://schemas.microsoft.com/office/drawing/2014/main" id="{A44B8C76-4F76-4156-8861-46F86118F6CD}"/>
              </a:ext>
            </a:extLst>
          </p:cNvPr>
          <p:cNvSpPr>
            <a:spLocks xmlns:a="http://schemas.openxmlformats.org/drawingml/2006/main" noGrp="1"/>
          </p:cNvSpPr>
          <p:nvPr/>
        </p:nvSpPr>
        <p:spPr>
          <a:xfrm xmlns:a="http://schemas.openxmlformats.org/drawingml/2006/main">
            <a:off x="8286750" y="4619625"/>
            <a:ext cx="3295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526A78"/>
                </a:solidFill>
                <a:latin typeface="Liberation Sans"/>
                <a:ea typeface="Liberation Sans"/>
                <a:cs typeface="Liberation Sans"/>
              </a:defRPr>
            </a:defPPr>
            <a:lvl1pPr>
              <a:defRPr sz="1950" b="0">
                <a:solidFill>
                  <a:srgbClr val="526A78"/>
                </a:solidFill>
                <a:latin typeface="Liberation Sans"/>
                <a:ea typeface="Liberation Sans"/>
                <a:cs typeface="Liberation Sans"/>
              </a:defRPr>
            </a:lvl1pPr>
            <a:lvl2pPr>
              <a:defRPr sz="1950" b="0">
                <a:solidFill>
                  <a:srgbClr val="526A78"/>
                </a:solidFill>
                <a:latin typeface="Liberation Sans"/>
                <a:ea typeface="Liberation Sans"/>
                <a:cs typeface="Liberation Sans"/>
              </a:defRPr>
            </a:lvl2pPr>
            <a:lvl3pPr>
              <a:defRPr sz="1950" b="0">
                <a:solidFill>
                  <a:srgbClr val="526A78"/>
                </a:solidFill>
                <a:latin typeface="Liberation Sans"/>
                <a:ea typeface="Liberation Sans"/>
                <a:cs typeface="Liberation Sans"/>
              </a:defRPr>
            </a:lvl3pPr>
            <a:lvl4pPr>
              <a:defRPr sz="1950" b="0">
                <a:solidFill>
                  <a:srgbClr val="526A78"/>
                </a:solidFill>
                <a:latin typeface="Liberation Sans"/>
                <a:ea typeface="Liberation Sans"/>
                <a:cs typeface="Liberation Sans"/>
              </a:defRPr>
            </a:lvl4pPr>
            <a:lvl5pPr>
              <a:defRPr sz="1950" b="0">
                <a:solidFill>
                  <a:srgbClr val="526A78"/>
                </a:solidFill>
                <a:latin typeface="Liberation Sans"/>
                <a:ea typeface="Liberation Sans"/>
                <a:cs typeface="Liberation Sans"/>
              </a:defRPr>
            </a:lvl5pPr>
            <a:lvl6pPr>
              <a:defRPr sz="1950" b="0">
                <a:solidFill>
                  <a:srgbClr val="526A78"/>
                </a:solidFill>
                <a:latin typeface="Liberation Sans"/>
                <a:ea typeface="Liberation Sans"/>
                <a:cs typeface="Liberation Sans"/>
              </a:defRPr>
            </a:lvl6pPr>
            <a:lvl7pPr>
              <a:defRPr sz="1950" b="0">
                <a:solidFill>
                  <a:srgbClr val="526A78"/>
                </a:solidFill>
                <a:latin typeface="Liberation Sans"/>
                <a:ea typeface="Liberation Sans"/>
                <a:cs typeface="Liberation Sans"/>
              </a:defRPr>
            </a:lvl7pPr>
            <a:lvl8pPr>
              <a:defRPr sz="1950" b="0">
                <a:solidFill>
                  <a:srgbClr val="526A78"/>
                </a:solidFill>
                <a:latin typeface="Liberation Sans"/>
                <a:ea typeface="Liberation Sans"/>
                <a:cs typeface="Liberation Sans"/>
              </a:defRPr>
            </a:lvl8pPr>
            <a:lvl9pPr>
              <a:defRPr sz="1950" b="0">
                <a:solidFill>
                  <a:srgbClr val="526A78"/>
                </a:solidFill>
                <a:latin typeface="Liberation Sans"/>
                <a:ea typeface="Liberation Sans"/>
                <a:cs typeface="Liberation Sans"/>
              </a:defRPr>
            </a:lvl9pPr>
          </a:lstStyle>
          <a:p xmlns:a="http://schemas.openxmlformats.org/drawingml/2006/main">
            <a:pPr>
              <a:defRPr sz="1950" b="0">
                <a:solidFill>
                  <a:srgbClr val="526A78"/>
                </a:solidFill>
                <a:latin typeface="Liberation Sans"/>
                <a:ea typeface="Liberation Sans"/>
                <a:cs typeface="Liberation Sans"/>
              </a:defRPr>
            </a:pPr>
            <a:r>
              <a:rPr sz="1950" b="0">
                <a:solidFill>
                  <a:srgbClr val="526A78"/>
                </a:solidFill>
                <a:latin typeface="Liberation Sans"/>
                <a:ea typeface="Liberation Sans"/>
                <a:cs typeface="Liberation Sans"/>
              </a:rPr>
              <a:t>Relative lift</a:t>
            </a:r>
          </a:p>
        </p:txBody>
      </p:sp>
      <p:sp>
        <p:nvSpPr>
          <p:cNvPr id="8" name="count-note">
            <a:extLst xmlns:a="http://schemas.openxmlformats.org/drawingml/2006/main">
              <a:ext uri="{FF2B5EF4-FFF2-40B4-BE49-F238E27FC236}">
                <a16:creationId xmlns:a16="http://schemas.microsoft.com/office/drawing/2014/main" id="{A7936BA5-7437-4B0B-9D51-B4A60B3F849A}"/>
              </a:ext>
            </a:extLst>
          </p:cNvPr>
          <p:cNvSpPr>
            <a:spLocks xmlns:a="http://schemas.openxmlformats.org/drawingml/2006/main" noGrp="1"/>
          </p:cNvSpPr>
          <p:nvPr/>
        </p:nvSpPr>
        <p:spPr>
          <a:xfrm xmlns:a="http://schemas.openxmlformats.org/drawingml/2006/main">
            <a:off x="838200" y="58864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526A78"/>
                </a:solidFill>
                <a:latin typeface="Liberation Sans"/>
                <a:ea typeface="Liberation Sans"/>
                <a:cs typeface="Liberation Sans"/>
              </a:defRPr>
            </a:defPPr>
            <a:lvl1pPr>
              <a:defRPr sz="1650" b="0">
                <a:solidFill>
                  <a:srgbClr val="526A78"/>
                </a:solidFill>
                <a:latin typeface="Liberation Sans"/>
                <a:ea typeface="Liberation Sans"/>
                <a:cs typeface="Liberation Sans"/>
              </a:defRPr>
            </a:lvl1pPr>
            <a:lvl2pPr>
              <a:defRPr sz="1650" b="0">
                <a:solidFill>
                  <a:srgbClr val="526A78"/>
                </a:solidFill>
                <a:latin typeface="Liberation Sans"/>
                <a:ea typeface="Liberation Sans"/>
                <a:cs typeface="Liberation Sans"/>
              </a:defRPr>
            </a:lvl2pPr>
            <a:lvl3pPr>
              <a:defRPr sz="1650" b="0">
                <a:solidFill>
                  <a:srgbClr val="526A78"/>
                </a:solidFill>
                <a:latin typeface="Liberation Sans"/>
                <a:ea typeface="Liberation Sans"/>
                <a:cs typeface="Liberation Sans"/>
              </a:defRPr>
            </a:lvl3pPr>
            <a:lvl4pPr>
              <a:defRPr sz="1650" b="0">
                <a:solidFill>
                  <a:srgbClr val="526A78"/>
                </a:solidFill>
                <a:latin typeface="Liberation Sans"/>
                <a:ea typeface="Liberation Sans"/>
                <a:cs typeface="Liberation Sans"/>
              </a:defRPr>
            </a:lvl4pPr>
            <a:lvl5pPr>
              <a:defRPr sz="1650" b="0">
                <a:solidFill>
                  <a:srgbClr val="526A78"/>
                </a:solidFill>
                <a:latin typeface="Liberation Sans"/>
                <a:ea typeface="Liberation Sans"/>
                <a:cs typeface="Liberation Sans"/>
              </a:defRPr>
            </a:lvl5pPr>
            <a:lvl6pPr>
              <a:defRPr sz="1650" b="0">
                <a:solidFill>
                  <a:srgbClr val="526A78"/>
                </a:solidFill>
                <a:latin typeface="Liberation Sans"/>
                <a:ea typeface="Liberation Sans"/>
                <a:cs typeface="Liberation Sans"/>
              </a:defRPr>
            </a:lvl6pPr>
            <a:lvl7pPr>
              <a:defRPr sz="1650" b="0">
                <a:solidFill>
                  <a:srgbClr val="526A78"/>
                </a:solidFill>
                <a:latin typeface="Liberation Sans"/>
                <a:ea typeface="Liberation Sans"/>
                <a:cs typeface="Liberation Sans"/>
              </a:defRPr>
            </a:lvl7pPr>
            <a:lvl8pPr>
              <a:defRPr sz="1650" b="0">
                <a:solidFill>
                  <a:srgbClr val="526A78"/>
                </a:solidFill>
                <a:latin typeface="Liberation Sans"/>
                <a:ea typeface="Liberation Sans"/>
                <a:cs typeface="Liberation Sans"/>
              </a:defRPr>
            </a:lvl8pPr>
            <a:lvl9pPr>
              <a:defRPr sz="1650" b="0">
                <a:solidFill>
                  <a:srgbClr val="526A78"/>
                </a:solidFill>
                <a:latin typeface="Liberation Sans"/>
                <a:ea typeface="Liberation Sans"/>
                <a:cs typeface="Liberation Sans"/>
              </a:defRPr>
            </a:lvl9pPr>
          </a:lstStyle>
          <a:p xmlns:a="http://schemas.openxmlformats.org/drawingml/2006/main">
            <a:pPr>
              <a:defRPr sz="1650" b="0">
                <a:solidFill>
                  <a:srgbClr val="526A78"/>
                </a:solidFill>
                <a:latin typeface="Liberation Sans"/>
                <a:ea typeface="Liberation Sans"/>
                <a:cs typeface="Liberation Sans"/>
              </a:defRPr>
            </a:pPr>
            <a:r>
              <a:rPr sz="1650" b="0">
                <a:solidFill>
                  <a:srgbClr val="526A78"/>
                </a:solidFill>
                <a:latin typeface="Liberation Sans"/>
                <a:ea typeface="Liberation Sans"/>
                <a:cs typeface="Liberation Sans"/>
              </a:rPr>
              <a:t>Control: 3,650 / 34,678     Treatment: 5,469 / 35,211</a:t>
            </a:r>
          </a:p>
        </p:txBody>
      </p:sp>
    </p:spTree>
    <p:extLst>
      <p:ext uri="{BB962C8B-B14F-4D97-AF65-F5344CB8AC3E}">
        <p14:creationId xmlns:p14="http://schemas.microsoft.com/office/powerpoint/2010/main" val="141650448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09F1F88-39B3-477D-817A-92A2AC4C0804}"/>
              </a:ext>
            </a:extLst>
          </p:cNvPr>
          <p:cNvSpPr>
            <a:spLocks xmlns:a="http://schemas.openxmlformats.org/drawingml/2006/main" noGrp="1"/>
          </p:cNvSpPr>
          <p:nvPr/>
        </p:nvSpPr>
        <p:spPr>
          <a:xfrm xmlns:a="http://schemas.openxmlformats.org/drawingml/2006/main">
            <a:off x="609600" y="495300"/>
            <a:ext cx="1097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3047"/>
                </a:solidFill>
                <a:latin typeface="Liberation Sans"/>
                <a:ea typeface="Liberation Sans"/>
                <a:cs typeface="Liberation Sans"/>
              </a:defRPr>
            </a:defPPr>
            <a:lvl1pPr>
              <a:defRPr sz="3300" b="1">
                <a:solidFill>
                  <a:srgbClr val="123047"/>
                </a:solidFill>
                <a:latin typeface="Liberation Sans"/>
                <a:ea typeface="Liberation Sans"/>
                <a:cs typeface="Liberation Sans"/>
              </a:defRPr>
            </a:lvl1pPr>
            <a:lvl2pPr>
              <a:defRPr sz="3300" b="1">
                <a:solidFill>
                  <a:srgbClr val="123047"/>
                </a:solidFill>
                <a:latin typeface="Liberation Sans"/>
                <a:ea typeface="Liberation Sans"/>
                <a:cs typeface="Liberation Sans"/>
              </a:defRPr>
            </a:lvl2pPr>
            <a:lvl3pPr>
              <a:defRPr sz="3300" b="1">
                <a:solidFill>
                  <a:srgbClr val="123047"/>
                </a:solidFill>
                <a:latin typeface="Liberation Sans"/>
                <a:ea typeface="Liberation Sans"/>
                <a:cs typeface="Liberation Sans"/>
              </a:defRPr>
            </a:lvl3pPr>
            <a:lvl4pPr>
              <a:defRPr sz="3300" b="1">
                <a:solidFill>
                  <a:srgbClr val="123047"/>
                </a:solidFill>
                <a:latin typeface="Liberation Sans"/>
                <a:ea typeface="Liberation Sans"/>
                <a:cs typeface="Liberation Sans"/>
              </a:defRPr>
            </a:lvl4pPr>
            <a:lvl5pPr>
              <a:defRPr sz="3300" b="1">
                <a:solidFill>
                  <a:srgbClr val="123047"/>
                </a:solidFill>
                <a:latin typeface="Liberation Sans"/>
                <a:ea typeface="Liberation Sans"/>
                <a:cs typeface="Liberation Sans"/>
              </a:defRPr>
            </a:lvl5pPr>
            <a:lvl6pPr>
              <a:defRPr sz="3300" b="1">
                <a:solidFill>
                  <a:srgbClr val="123047"/>
                </a:solidFill>
                <a:latin typeface="Liberation Sans"/>
                <a:ea typeface="Liberation Sans"/>
                <a:cs typeface="Liberation Sans"/>
              </a:defRPr>
            </a:lvl6pPr>
            <a:lvl7pPr>
              <a:defRPr sz="3300" b="1">
                <a:solidFill>
                  <a:srgbClr val="123047"/>
                </a:solidFill>
                <a:latin typeface="Liberation Sans"/>
                <a:ea typeface="Liberation Sans"/>
                <a:cs typeface="Liberation Sans"/>
              </a:defRPr>
            </a:lvl7pPr>
            <a:lvl8pPr>
              <a:defRPr sz="3300" b="1">
                <a:solidFill>
                  <a:srgbClr val="123047"/>
                </a:solidFill>
                <a:latin typeface="Liberation Sans"/>
                <a:ea typeface="Liberation Sans"/>
                <a:cs typeface="Liberation Sans"/>
              </a:defRPr>
            </a:lvl8pPr>
            <a:lvl9pPr>
              <a:defRPr sz="3300" b="1">
                <a:solidFill>
                  <a:srgbClr val="123047"/>
                </a:solidFill>
                <a:latin typeface="Liberation Sans"/>
                <a:ea typeface="Liberation Sans"/>
                <a:cs typeface="Liberation Sans"/>
              </a:defRPr>
            </a:lvl9pPr>
          </a:lstStyle>
          <a:p xmlns:a="http://schemas.openxmlformats.org/drawingml/2006/main">
            <a:pPr>
              <a:defRPr sz="3300" b="1">
                <a:solidFill>
                  <a:srgbClr val="123047"/>
                </a:solidFill>
                <a:latin typeface="Liberation Sans"/>
                <a:ea typeface="Liberation Sans"/>
                <a:cs typeface="Liberation Sans"/>
              </a:defRPr>
            </a:pPr>
            <a:r>
              <a:rPr sz="3300" b="1">
                <a:solidFill>
                  <a:srgbClr val="123047"/>
                </a:solidFill>
                <a:latin typeface="Liberation Sans"/>
                <a:ea typeface="Liberation Sans"/>
                <a:cs typeface="Liberation Sans"/>
              </a:rPr>
              <a:t>The effect interval excludes zero</a:t>
            </a:r>
          </a:p>
        </p:txBody>
      </p:sp>
      <p:sp>
        <p:nvSpPr>
          <p:cNvPr id="2" name="slide-number">
            <a:extLst xmlns:a="http://schemas.openxmlformats.org/drawingml/2006/main">
              <a:ext uri="{FF2B5EF4-FFF2-40B4-BE49-F238E27FC236}">
                <a16:creationId xmlns:a16="http://schemas.microsoft.com/office/drawing/2014/main" id="{FF0E6984-051C-49DE-BC97-938C7E1C2F4D}"/>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26A78"/>
                </a:solidFill>
                <a:latin typeface="Liberation Sans"/>
                <a:ea typeface="Liberation Sans"/>
                <a:cs typeface="Liberation Sans"/>
              </a:defRPr>
            </a:defPPr>
            <a:lvl1pPr>
              <a:defRPr sz="1350" b="0">
                <a:solidFill>
                  <a:srgbClr val="526A78"/>
                </a:solidFill>
                <a:latin typeface="Liberation Sans"/>
                <a:ea typeface="Liberation Sans"/>
                <a:cs typeface="Liberation Sans"/>
              </a:defRPr>
            </a:lvl1pPr>
            <a:lvl2pPr>
              <a:defRPr sz="1350" b="0">
                <a:solidFill>
                  <a:srgbClr val="526A78"/>
                </a:solidFill>
                <a:latin typeface="Liberation Sans"/>
                <a:ea typeface="Liberation Sans"/>
                <a:cs typeface="Liberation Sans"/>
              </a:defRPr>
            </a:lvl2pPr>
            <a:lvl3pPr>
              <a:defRPr sz="1350" b="0">
                <a:solidFill>
                  <a:srgbClr val="526A78"/>
                </a:solidFill>
                <a:latin typeface="Liberation Sans"/>
                <a:ea typeface="Liberation Sans"/>
                <a:cs typeface="Liberation Sans"/>
              </a:defRPr>
            </a:lvl3pPr>
            <a:lvl4pPr>
              <a:defRPr sz="1350" b="0">
                <a:solidFill>
                  <a:srgbClr val="526A78"/>
                </a:solidFill>
                <a:latin typeface="Liberation Sans"/>
                <a:ea typeface="Liberation Sans"/>
                <a:cs typeface="Liberation Sans"/>
              </a:defRPr>
            </a:lvl4pPr>
            <a:lvl5pPr>
              <a:defRPr sz="1350" b="0">
                <a:solidFill>
                  <a:srgbClr val="526A78"/>
                </a:solidFill>
                <a:latin typeface="Liberation Sans"/>
                <a:ea typeface="Liberation Sans"/>
                <a:cs typeface="Liberation Sans"/>
              </a:defRPr>
            </a:lvl5pPr>
            <a:lvl6pPr>
              <a:defRPr sz="1350" b="0">
                <a:solidFill>
                  <a:srgbClr val="526A78"/>
                </a:solidFill>
                <a:latin typeface="Liberation Sans"/>
                <a:ea typeface="Liberation Sans"/>
                <a:cs typeface="Liberation Sans"/>
              </a:defRPr>
            </a:lvl6pPr>
            <a:lvl7pPr>
              <a:defRPr sz="1350" b="0">
                <a:solidFill>
                  <a:srgbClr val="526A78"/>
                </a:solidFill>
                <a:latin typeface="Liberation Sans"/>
                <a:ea typeface="Liberation Sans"/>
                <a:cs typeface="Liberation Sans"/>
              </a:defRPr>
            </a:lvl7pPr>
            <a:lvl8pPr>
              <a:defRPr sz="1350" b="0">
                <a:solidFill>
                  <a:srgbClr val="526A78"/>
                </a:solidFill>
                <a:latin typeface="Liberation Sans"/>
                <a:ea typeface="Liberation Sans"/>
                <a:cs typeface="Liberation Sans"/>
              </a:defRPr>
            </a:lvl8pPr>
            <a:lvl9pPr>
              <a:defRPr sz="1350" b="0">
                <a:solidFill>
                  <a:srgbClr val="526A78"/>
                </a:solidFill>
                <a:latin typeface="Liberation Sans"/>
                <a:ea typeface="Liberation Sans"/>
                <a:cs typeface="Liberation Sans"/>
              </a:defRPr>
            </a:lvl9pPr>
          </a:lstStyle>
          <a:p xmlns:a="http://schemas.openxmlformats.org/drawingml/2006/main">
            <a:pPr>
              <a:defRPr sz="1350" b="0">
                <a:solidFill>
                  <a:srgbClr val="526A78"/>
                </a:solidFill>
                <a:latin typeface="Liberation Sans"/>
                <a:ea typeface="Liberation Sans"/>
                <a:cs typeface="Liberation Sans"/>
              </a:defRPr>
            </a:pPr>
            <a:r>
              <a:rPr sz="1350" b="0">
                <a:solidFill>
                  <a:srgbClr val="526A78"/>
                </a:solidFill>
                <a:latin typeface="Liberation Sans"/>
                <a:ea typeface="Liberation Sans"/>
                <a:cs typeface="Liberation Sans"/>
              </a:rPr>
              <a:t>03</a:t>
            </a:r>
          </a:p>
        </p:txBody>
      </p:sp>
      <p:sp>
        <p:nvSpPr>
          <p:cNvPr id="3" name="effect-subtitle">
            <a:extLst xmlns:a="http://schemas.openxmlformats.org/drawingml/2006/main">
              <a:ext uri="{FF2B5EF4-FFF2-40B4-BE49-F238E27FC236}">
                <a16:creationId xmlns:a16="http://schemas.microsoft.com/office/drawing/2014/main" id="{62C9A32F-3F80-4120-B0CD-226ED302D0E2}"/>
              </a:ext>
            </a:extLst>
          </p:cNvPr>
          <p:cNvSpPr>
            <a:spLocks xmlns:a="http://schemas.openxmlformats.org/drawingml/2006/main" noGrp="1"/>
          </p:cNvSpPr>
          <p:nvPr/>
        </p:nvSpPr>
        <p:spPr>
          <a:xfrm xmlns:a="http://schemas.openxmlformats.org/drawingml/2006/main">
            <a:off x="609600" y="1381125"/>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526A78"/>
                </a:solidFill>
                <a:latin typeface="Liberation Sans"/>
                <a:ea typeface="Liberation Sans"/>
                <a:cs typeface="Liberation Sans"/>
              </a:defRPr>
            </a:defPPr>
            <a:lvl1pPr>
              <a:defRPr sz="2025" b="0">
                <a:solidFill>
                  <a:srgbClr val="526A78"/>
                </a:solidFill>
                <a:latin typeface="Liberation Sans"/>
                <a:ea typeface="Liberation Sans"/>
                <a:cs typeface="Liberation Sans"/>
              </a:defRPr>
            </a:lvl1pPr>
            <a:lvl2pPr>
              <a:defRPr sz="2025" b="0">
                <a:solidFill>
                  <a:srgbClr val="526A78"/>
                </a:solidFill>
                <a:latin typeface="Liberation Sans"/>
                <a:ea typeface="Liberation Sans"/>
                <a:cs typeface="Liberation Sans"/>
              </a:defRPr>
            </a:lvl2pPr>
            <a:lvl3pPr>
              <a:defRPr sz="2025" b="0">
                <a:solidFill>
                  <a:srgbClr val="526A78"/>
                </a:solidFill>
                <a:latin typeface="Liberation Sans"/>
                <a:ea typeface="Liberation Sans"/>
                <a:cs typeface="Liberation Sans"/>
              </a:defRPr>
            </a:lvl3pPr>
            <a:lvl4pPr>
              <a:defRPr sz="2025" b="0">
                <a:solidFill>
                  <a:srgbClr val="526A78"/>
                </a:solidFill>
                <a:latin typeface="Liberation Sans"/>
                <a:ea typeface="Liberation Sans"/>
                <a:cs typeface="Liberation Sans"/>
              </a:defRPr>
            </a:lvl4pPr>
            <a:lvl5pPr>
              <a:defRPr sz="2025" b="0">
                <a:solidFill>
                  <a:srgbClr val="526A78"/>
                </a:solidFill>
                <a:latin typeface="Liberation Sans"/>
                <a:ea typeface="Liberation Sans"/>
                <a:cs typeface="Liberation Sans"/>
              </a:defRPr>
            </a:lvl5pPr>
            <a:lvl6pPr>
              <a:defRPr sz="2025" b="0">
                <a:solidFill>
                  <a:srgbClr val="526A78"/>
                </a:solidFill>
                <a:latin typeface="Liberation Sans"/>
                <a:ea typeface="Liberation Sans"/>
                <a:cs typeface="Liberation Sans"/>
              </a:defRPr>
            </a:lvl6pPr>
            <a:lvl7pPr>
              <a:defRPr sz="2025" b="0">
                <a:solidFill>
                  <a:srgbClr val="526A78"/>
                </a:solidFill>
                <a:latin typeface="Liberation Sans"/>
                <a:ea typeface="Liberation Sans"/>
                <a:cs typeface="Liberation Sans"/>
              </a:defRPr>
            </a:lvl7pPr>
            <a:lvl8pPr>
              <a:defRPr sz="2025" b="0">
                <a:solidFill>
                  <a:srgbClr val="526A78"/>
                </a:solidFill>
                <a:latin typeface="Liberation Sans"/>
                <a:ea typeface="Liberation Sans"/>
                <a:cs typeface="Liberation Sans"/>
              </a:defRPr>
            </a:lvl8pPr>
            <a:lvl9pPr>
              <a:defRPr sz="2025" b="0">
                <a:solidFill>
                  <a:srgbClr val="526A78"/>
                </a:solidFill>
                <a:latin typeface="Liberation Sans"/>
                <a:ea typeface="Liberation Sans"/>
                <a:cs typeface="Liberation Sans"/>
              </a:defRPr>
            </a:lvl9pPr>
          </a:lstStyle>
          <a:p xmlns:a="http://schemas.openxmlformats.org/drawingml/2006/main">
            <a:pPr>
              <a:defRPr sz="2025" b="0">
                <a:solidFill>
                  <a:srgbClr val="526A78"/>
                </a:solidFill>
                <a:latin typeface="Liberation Sans"/>
                <a:ea typeface="Liberation Sans"/>
                <a:cs typeface="Liberation Sans"/>
              </a:defRPr>
            </a:pPr>
            <a:r>
              <a:rPr sz="2025" b="0">
                <a:solidFill>
                  <a:srgbClr val="526A78"/>
                </a:solidFill>
                <a:latin typeface="Liberation Sans"/>
                <a:ea typeface="Liberation Sans"/>
                <a:cs typeface="Liberation Sans"/>
              </a:rPr>
              <a:t>Treatment minus control conversion, in percentage points</a:t>
            </a:r>
          </a:p>
        </p:txBody>
      </p:sp>
      <p:graphicFrame>
        <p:nvGraphicFramePr>
          <p:cNvPr id="4" name="Chart">
            <a:extLst xmlns:a="http://schemas.openxmlformats.org/drawingml/2006/main">
              <a:ext uri="{FF2B5EF4-FFF2-40B4-BE49-F238E27FC236}">
                <a16:creationId xmlns:a16="http://schemas.microsoft.com/office/drawing/2014/main" id="{479761DF-1779-4731-85FF-1F2F9B05E7F7}"/>
              </a:ext>
            </a:extLst>
          </p:cNvPr>
          <p:cNvGraphicFramePr/>
          <p:nvPr/>
        </p:nvGraphicFramePr>
        <p:xfrm>
          <a:off xmlns:a="http://schemas.openxmlformats.org/drawingml/2006/main" x="609600" y="2266950"/>
          <a:ext xmlns:a="http://schemas.openxmlformats.org/drawingml/2006/main" cx="10858500" cy="2038350"/>
        </p:xfrm>
        <a:graphic xmlns:a="http://schemas.openxmlformats.org/drawingml/2006/main">
          <a:graphicData uri="http://schemas.openxmlformats.org/drawingml/2006/chart">
            <c:chart xmlns:r="http://schemas.openxmlformats.org/officeDocument/2006/relationships" xmlns:c="http://schemas.openxmlformats.org/drawingml/2006/chart" r:id="R307cc62fe51e4dfb"/>
          </a:graphicData>
        </a:graphic>
      </p:graphicFrame>
      <p:sp>
        <p:nvSpPr>
          <p:cNvPr id="5" name="ci">
            <a:extLst xmlns:a="http://schemas.openxmlformats.org/drawingml/2006/main">
              <a:ext uri="{FF2B5EF4-FFF2-40B4-BE49-F238E27FC236}">
                <a16:creationId xmlns:a16="http://schemas.microsoft.com/office/drawing/2014/main" id="{BAD6B235-BAB1-4271-B228-45A924859275}"/>
              </a:ext>
            </a:extLst>
          </p:cNvPr>
          <p:cNvSpPr>
            <a:spLocks xmlns:a="http://schemas.openxmlformats.org/drawingml/2006/main" noGrp="1"/>
          </p:cNvSpPr>
          <p:nvPr/>
        </p:nvSpPr>
        <p:spPr>
          <a:xfrm xmlns:a="http://schemas.openxmlformats.org/drawingml/2006/main">
            <a:off x="609600" y="4810125"/>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00" b="1">
                <a:solidFill>
                  <a:srgbClr val="007E87"/>
                </a:solidFill>
                <a:latin typeface="Liberation Sans"/>
                <a:ea typeface="Liberation Sans"/>
                <a:cs typeface="Liberation Sans"/>
              </a:defRPr>
            </a:defPPr>
            <a:lvl1pPr>
              <a:defRPr sz="2700" b="1">
                <a:solidFill>
                  <a:srgbClr val="007E87"/>
                </a:solidFill>
                <a:latin typeface="Liberation Sans"/>
                <a:ea typeface="Liberation Sans"/>
                <a:cs typeface="Liberation Sans"/>
              </a:defRPr>
            </a:lvl1pPr>
            <a:lvl2pPr>
              <a:defRPr sz="2700" b="1">
                <a:solidFill>
                  <a:srgbClr val="007E87"/>
                </a:solidFill>
                <a:latin typeface="Liberation Sans"/>
                <a:ea typeface="Liberation Sans"/>
                <a:cs typeface="Liberation Sans"/>
              </a:defRPr>
            </a:lvl2pPr>
            <a:lvl3pPr>
              <a:defRPr sz="2700" b="1">
                <a:solidFill>
                  <a:srgbClr val="007E87"/>
                </a:solidFill>
                <a:latin typeface="Liberation Sans"/>
                <a:ea typeface="Liberation Sans"/>
                <a:cs typeface="Liberation Sans"/>
              </a:defRPr>
            </a:lvl3pPr>
            <a:lvl4pPr>
              <a:defRPr sz="2700" b="1">
                <a:solidFill>
                  <a:srgbClr val="007E87"/>
                </a:solidFill>
                <a:latin typeface="Liberation Sans"/>
                <a:ea typeface="Liberation Sans"/>
                <a:cs typeface="Liberation Sans"/>
              </a:defRPr>
            </a:lvl4pPr>
            <a:lvl5pPr>
              <a:defRPr sz="2700" b="1">
                <a:solidFill>
                  <a:srgbClr val="007E87"/>
                </a:solidFill>
                <a:latin typeface="Liberation Sans"/>
                <a:ea typeface="Liberation Sans"/>
                <a:cs typeface="Liberation Sans"/>
              </a:defRPr>
            </a:lvl5pPr>
            <a:lvl6pPr>
              <a:defRPr sz="2700" b="1">
                <a:solidFill>
                  <a:srgbClr val="007E87"/>
                </a:solidFill>
                <a:latin typeface="Liberation Sans"/>
                <a:ea typeface="Liberation Sans"/>
                <a:cs typeface="Liberation Sans"/>
              </a:defRPr>
            </a:lvl6pPr>
            <a:lvl7pPr>
              <a:defRPr sz="2700" b="1">
                <a:solidFill>
                  <a:srgbClr val="007E87"/>
                </a:solidFill>
                <a:latin typeface="Liberation Sans"/>
                <a:ea typeface="Liberation Sans"/>
                <a:cs typeface="Liberation Sans"/>
              </a:defRPr>
            </a:lvl7pPr>
            <a:lvl8pPr>
              <a:defRPr sz="2700" b="1">
                <a:solidFill>
                  <a:srgbClr val="007E87"/>
                </a:solidFill>
                <a:latin typeface="Liberation Sans"/>
                <a:ea typeface="Liberation Sans"/>
                <a:cs typeface="Liberation Sans"/>
              </a:defRPr>
            </a:lvl8pPr>
            <a:lvl9pPr>
              <a:defRPr sz="2700" b="1">
                <a:solidFill>
                  <a:srgbClr val="007E87"/>
                </a:solidFill>
                <a:latin typeface="Liberation Sans"/>
                <a:ea typeface="Liberation Sans"/>
                <a:cs typeface="Liberation Sans"/>
              </a:defRPr>
            </a:lvl9pPr>
          </a:lstStyle>
          <a:p xmlns:a="http://schemas.openxmlformats.org/drawingml/2006/main">
            <a:pPr>
              <a:defRPr sz="2700" b="1">
                <a:solidFill>
                  <a:srgbClr val="007E87"/>
                </a:solidFill>
                <a:latin typeface="Liberation Sans"/>
                <a:ea typeface="Liberation Sans"/>
                <a:cs typeface="Liberation Sans"/>
              </a:defRPr>
            </a:pPr>
            <a:r>
              <a:rPr sz="2700" b="1">
                <a:solidFill>
                  <a:srgbClr val="007E87"/>
                </a:solidFill>
                <a:latin typeface="Liberation Sans"/>
                <a:ea typeface="Liberation Sans"/>
                <a:cs typeface="Liberation Sans"/>
              </a:rPr>
              <a:t>95% Newcombe CI: 4.5092 to 5.5042 pp</a:t>
            </a:r>
          </a:p>
        </p:txBody>
      </p:sp>
      <p:sp>
        <p:nvSpPr>
          <p:cNvPr id="6" name="test">
            <a:extLst xmlns:a="http://schemas.openxmlformats.org/drawingml/2006/main">
              <a:ext uri="{FF2B5EF4-FFF2-40B4-BE49-F238E27FC236}">
                <a16:creationId xmlns:a16="http://schemas.microsoft.com/office/drawing/2014/main" id="{0C73A894-0F88-4B7F-B204-B15145DF393A}"/>
              </a:ext>
            </a:extLst>
          </p:cNvPr>
          <p:cNvSpPr>
            <a:spLocks xmlns:a="http://schemas.openxmlformats.org/drawingml/2006/main" noGrp="1"/>
          </p:cNvSpPr>
          <p:nvPr/>
        </p:nvSpPr>
        <p:spPr>
          <a:xfrm xmlns:a="http://schemas.openxmlformats.org/drawingml/2006/main">
            <a:off x="609600" y="5476875"/>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3047"/>
                </a:solidFill>
                <a:latin typeface="Liberation Sans"/>
                <a:ea typeface="Liberation Sans"/>
                <a:cs typeface="Liberation Sans"/>
              </a:defRPr>
            </a:defPPr>
            <a:lvl1pPr>
              <a:defRPr sz="1950" b="0">
                <a:solidFill>
                  <a:srgbClr val="123047"/>
                </a:solidFill>
                <a:latin typeface="Liberation Sans"/>
                <a:ea typeface="Liberation Sans"/>
                <a:cs typeface="Liberation Sans"/>
              </a:defRPr>
            </a:lvl1pPr>
            <a:lvl2pPr>
              <a:defRPr sz="1950" b="0">
                <a:solidFill>
                  <a:srgbClr val="123047"/>
                </a:solidFill>
                <a:latin typeface="Liberation Sans"/>
                <a:ea typeface="Liberation Sans"/>
                <a:cs typeface="Liberation Sans"/>
              </a:defRPr>
            </a:lvl2pPr>
            <a:lvl3pPr>
              <a:defRPr sz="1950" b="0">
                <a:solidFill>
                  <a:srgbClr val="123047"/>
                </a:solidFill>
                <a:latin typeface="Liberation Sans"/>
                <a:ea typeface="Liberation Sans"/>
                <a:cs typeface="Liberation Sans"/>
              </a:defRPr>
            </a:lvl3pPr>
            <a:lvl4pPr>
              <a:defRPr sz="1950" b="0">
                <a:solidFill>
                  <a:srgbClr val="123047"/>
                </a:solidFill>
                <a:latin typeface="Liberation Sans"/>
                <a:ea typeface="Liberation Sans"/>
                <a:cs typeface="Liberation Sans"/>
              </a:defRPr>
            </a:lvl4pPr>
            <a:lvl5pPr>
              <a:defRPr sz="1950" b="0">
                <a:solidFill>
                  <a:srgbClr val="123047"/>
                </a:solidFill>
                <a:latin typeface="Liberation Sans"/>
                <a:ea typeface="Liberation Sans"/>
                <a:cs typeface="Liberation Sans"/>
              </a:defRPr>
            </a:lvl5pPr>
            <a:lvl6pPr>
              <a:defRPr sz="1950" b="0">
                <a:solidFill>
                  <a:srgbClr val="123047"/>
                </a:solidFill>
                <a:latin typeface="Liberation Sans"/>
                <a:ea typeface="Liberation Sans"/>
                <a:cs typeface="Liberation Sans"/>
              </a:defRPr>
            </a:lvl6pPr>
            <a:lvl7pPr>
              <a:defRPr sz="1950" b="0">
                <a:solidFill>
                  <a:srgbClr val="123047"/>
                </a:solidFill>
                <a:latin typeface="Liberation Sans"/>
                <a:ea typeface="Liberation Sans"/>
                <a:cs typeface="Liberation Sans"/>
              </a:defRPr>
            </a:lvl7pPr>
            <a:lvl8pPr>
              <a:defRPr sz="1950" b="0">
                <a:solidFill>
                  <a:srgbClr val="123047"/>
                </a:solidFill>
                <a:latin typeface="Liberation Sans"/>
                <a:ea typeface="Liberation Sans"/>
                <a:cs typeface="Liberation Sans"/>
              </a:defRPr>
            </a:lvl8pPr>
            <a:lvl9pPr>
              <a:defRPr sz="1950" b="0">
                <a:solidFill>
                  <a:srgbClr val="123047"/>
                </a:solidFill>
                <a:latin typeface="Liberation Sans"/>
                <a:ea typeface="Liberation Sans"/>
                <a:cs typeface="Liberation Sans"/>
              </a:defRPr>
            </a:lvl9pPr>
          </a:lstStyle>
          <a:p xmlns:a="http://schemas.openxmlformats.org/drawingml/2006/main">
            <a:pPr>
              <a:defRPr sz="1950" b="0">
                <a:solidFill>
                  <a:srgbClr val="123047"/>
                </a:solidFill>
                <a:latin typeface="Liberation Sans"/>
                <a:ea typeface="Liberation Sans"/>
                <a:cs typeface="Liberation Sans"/>
              </a:defRPr>
            </a:pPr>
            <a:r>
              <a:rPr sz="1950" b="0">
                <a:solidFill>
                  <a:srgbClr val="123047"/>
                </a:solidFill>
                <a:latin typeface="Liberation Sans"/>
                <a:ea typeface="Liberation Sans"/>
                <a:cs typeface="Liberation Sans"/>
              </a:rPr>
              <a:t>Two-sided pooled test: p = 6.104 × 10⁻⁸⁶</a:t>
            </a:r>
          </a:p>
        </p:txBody>
      </p:sp>
      <p:sp>
        <p:nvSpPr>
          <p:cNvPr id="7" name="assumption">
            <a:extLst xmlns:a="http://schemas.openxmlformats.org/drawingml/2006/main">
              <a:ext uri="{FF2B5EF4-FFF2-40B4-BE49-F238E27FC236}">
                <a16:creationId xmlns:a16="http://schemas.microsoft.com/office/drawing/2014/main" id="{2E1BBA1B-5273-414A-B494-6322B905719C}"/>
              </a:ext>
            </a:extLst>
          </p:cNvPr>
          <p:cNvSpPr>
            <a:spLocks xmlns:a="http://schemas.openxmlformats.org/drawingml/2006/main" noGrp="1"/>
          </p:cNvSpPr>
          <p:nvPr/>
        </p:nvSpPr>
        <p:spPr>
          <a:xfrm xmlns:a="http://schemas.openxmlformats.org/drawingml/2006/main">
            <a:off x="609600" y="6029325"/>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526A78"/>
                </a:solidFill>
                <a:latin typeface="Liberation Sans"/>
                <a:ea typeface="Liberation Sans"/>
                <a:cs typeface="Liberation Sans"/>
              </a:defRPr>
            </a:defPPr>
            <a:lvl1pPr>
              <a:defRPr sz="1500" b="0">
                <a:solidFill>
                  <a:srgbClr val="526A78"/>
                </a:solidFill>
                <a:latin typeface="Liberation Sans"/>
                <a:ea typeface="Liberation Sans"/>
                <a:cs typeface="Liberation Sans"/>
              </a:defRPr>
            </a:lvl1pPr>
            <a:lvl2pPr>
              <a:defRPr sz="1500" b="0">
                <a:solidFill>
                  <a:srgbClr val="526A78"/>
                </a:solidFill>
                <a:latin typeface="Liberation Sans"/>
                <a:ea typeface="Liberation Sans"/>
                <a:cs typeface="Liberation Sans"/>
              </a:defRPr>
            </a:lvl2pPr>
            <a:lvl3pPr>
              <a:defRPr sz="1500" b="0">
                <a:solidFill>
                  <a:srgbClr val="526A78"/>
                </a:solidFill>
                <a:latin typeface="Liberation Sans"/>
                <a:ea typeface="Liberation Sans"/>
                <a:cs typeface="Liberation Sans"/>
              </a:defRPr>
            </a:lvl3pPr>
            <a:lvl4pPr>
              <a:defRPr sz="1500" b="0">
                <a:solidFill>
                  <a:srgbClr val="526A78"/>
                </a:solidFill>
                <a:latin typeface="Liberation Sans"/>
                <a:ea typeface="Liberation Sans"/>
                <a:cs typeface="Liberation Sans"/>
              </a:defRPr>
            </a:lvl4pPr>
            <a:lvl5pPr>
              <a:defRPr sz="1500" b="0">
                <a:solidFill>
                  <a:srgbClr val="526A78"/>
                </a:solidFill>
                <a:latin typeface="Liberation Sans"/>
                <a:ea typeface="Liberation Sans"/>
                <a:cs typeface="Liberation Sans"/>
              </a:defRPr>
            </a:lvl5pPr>
            <a:lvl6pPr>
              <a:defRPr sz="1500" b="0">
                <a:solidFill>
                  <a:srgbClr val="526A78"/>
                </a:solidFill>
                <a:latin typeface="Liberation Sans"/>
                <a:ea typeface="Liberation Sans"/>
                <a:cs typeface="Liberation Sans"/>
              </a:defRPr>
            </a:lvl6pPr>
            <a:lvl7pPr>
              <a:defRPr sz="1500" b="0">
                <a:solidFill>
                  <a:srgbClr val="526A78"/>
                </a:solidFill>
                <a:latin typeface="Liberation Sans"/>
                <a:ea typeface="Liberation Sans"/>
                <a:cs typeface="Liberation Sans"/>
              </a:defRPr>
            </a:lvl7pPr>
            <a:lvl8pPr>
              <a:defRPr sz="1500" b="0">
                <a:solidFill>
                  <a:srgbClr val="526A78"/>
                </a:solidFill>
                <a:latin typeface="Liberation Sans"/>
                <a:ea typeface="Liberation Sans"/>
                <a:cs typeface="Liberation Sans"/>
              </a:defRPr>
            </a:lvl8pPr>
            <a:lvl9pPr>
              <a:defRPr sz="1500" b="0">
                <a:solidFill>
                  <a:srgbClr val="526A78"/>
                </a:solidFill>
                <a:latin typeface="Liberation Sans"/>
                <a:ea typeface="Liberation Sans"/>
                <a:cs typeface="Liberation Sans"/>
              </a:defRPr>
            </a:lvl9pPr>
          </a:lstStyle>
          <a:p xmlns:a="http://schemas.openxmlformats.org/drawingml/2006/main">
            <a:pPr>
              <a:defRPr sz="1500" b="0">
                <a:solidFill>
                  <a:srgbClr val="526A78"/>
                </a:solidFill>
                <a:latin typeface="Liberation Sans"/>
                <a:ea typeface="Liberation Sans"/>
                <a:cs typeface="Liberation Sans"/>
              </a:defRPr>
            </a:pPr>
            <a:r>
              <a:rPr sz="1500" b="0">
                <a:solidFill>
                  <a:srgbClr val="526A78"/>
                </a:solidFill>
                <a:latin typeface="Liberation Sans"/>
                <a:ea typeface="Liberation Sans"/>
                <a:cs typeface="Liberation Sans"/>
              </a:rPr>
              <a:t>Independent observations assumed. Significance threshold 0.05 chosen retrospectively.</a:t>
            </a:r>
          </a:p>
        </p:txBody>
      </p:sp>
    </p:spTree>
    <p:extLst>
      <p:ext uri="{BB962C8B-B14F-4D97-AF65-F5344CB8AC3E}">
        <p14:creationId xmlns:p14="http://schemas.microsoft.com/office/powerpoint/2010/main" val="1340298653"/>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FBB7F27E-3F92-4B8C-A805-54581A6AAD08}"/>
              </a:ext>
            </a:extLst>
          </p:cNvPr>
          <p:cNvSpPr>
            <a:spLocks xmlns:a="http://schemas.openxmlformats.org/drawingml/2006/main" noGrp="1"/>
          </p:cNvSpPr>
          <p:nvPr/>
        </p:nvSpPr>
        <p:spPr>
          <a:xfrm xmlns:a="http://schemas.openxmlformats.org/drawingml/2006/main">
            <a:off x="609600" y="495300"/>
            <a:ext cx="1097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3047"/>
                </a:solidFill>
                <a:latin typeface="Liberation Sans"/>
                <a:ea typeface="Liberation Sans"/>
                <a:cs typeface="Liberation Sans"/>
              </a:defRPr>
            </a:defPPr>
            <a:lvl1pPr>
              <a:defRPr sz="3300" b="1">
                <a:solidFill>
                  <a:srgbClr val="123047"/>
                </a:solidFill>
                <a:latin typeface="Liberation Sans"/>
                <a:ea typeface="Liberation Sans"/>
                <a:cs typeface="Liberation Sans"/>
              </a:defRPr>
            </a:lvl1pPr>
            <a:lvl2pPr>
              <a:defRPr sz="3300" b="1">
                <a:solidFill>
                  <a:srgbClr val="123047"/>
                </a:solidFill>
                <a:latin typeface="Liberation Sans"/>
                <a:ea typeface="Liberation Sans"/>
                <a:cs typeface="Liberation Sans"/>
              </a:defRPr>
            </a:lvl2pPr>
            <a:lvl3pPr>
              <a:defRPr sz="3300" b="1">
                <a:solidFill>
                  <a:srgbClr val="123047"/>
                </a:solidFill>
                <a:latin typeface="Liberation Sans"/>
                <a:ea typeface="Liberation Sans"/>
                <a:cs typeface="Liberation Sans"/>
              </a:defRPr>
            </a:lvl3pPr>
            <a:lvl4pPr>
              <a:defRPr sz="3300" b="1">
                <a:solidFill>
                  <a:srgbClr val="123047"/>
                </a:solidFill>
                <a:latin typeface="Liberation Sans"/>
                <a:ea typeface="Liberation Sans"/>
                <a:cs typeface="Liberation Sans"/>
              </a:defRPr>
            </a:lvl4pPr>
            <a:lvl5pPr>
              <a:defRPr sz="3300" b="1">
                <a:solidFill>
                  <a:srgbClr val="123047"/>
                </a:solidFill>
                <a:latin typeface="Liberation Sans"/>
                <a:ea typeface="Liberation Sans"/>
                <a:cs typeface="Liberation Sans"/>
              </a:defRPr>
            </a:lvl5pPr>
            <a:lvl6pPr>
              <a:defRPr sz="3300" b="1">
                <a:solidFill>
                  <a:srgbClr val="123047"/>
                </a:solidFill>
                <a:latin typeface="Liberation Sans"/>
                <a:ea typeface="Liberation Sans"/>
                <a:cs typeface="Liberation Sans"/>
              </a:defRPr>
            </a:lvl6pPr>
            <a:lvl7pPr>
              <a:defRPr sz="3300" b="1">
                <a:solidFill>
                  <a:srgbClr val="123047"/>
                </a:solidFill>
                <a:latin typeface="Liberation Sans"/>
                <a:ea typeface="Liberation Sans"/>
                <a:cs typeface="Liberation Sans"/>
              </a:defRPr>
            </a:lvl7pPr>
            <a:lvl8pPr>
              <a:defRPr sz="3300" b="1">
                <a:solidFill>
                  <a:srgbClr val="123047"/>
                </a:solidFill>
                <a:latin typeface="Liberation Sans"/>
                <a:ea typeface="Liberation Sans"/>
                <a:cs typeface="Liberation Sans"/>
              </a:defRPr>
            </a:lvl8pPr>
            <a:lvl9pPr>
              <a:defRPr sz="3300" b="1">
                <a:solidFill>
                  <a:srgbClr val="123047"/>
                </a:solidFill>
                <a:latin typeface="Liberation Sans"/>
                <a:ea typeface="Liberation Sans"/>
                <a:cs typeface="Liberation Sans"/>
              </a:defRPr>
            </a:lvl9pPr>
          </a:lstStyle>
          <a:p xmlns:a="http://schemas.openxmlformats.org/drawingml/2006/main">
            <a:pPr>
              <a:defRPr sz="3300" b="1">
                <a:solidFill>
                  <a:srgbClr val="123047"/>
                </a:solidFill>
                <a:latin typeface="Liberation Sans"/>
                <a:ea typeface="Liberation Sans"/>
                <a:cs typeface="Liberation Sans"/>
              </a:defRPr>
            </a:pPr>
            <a:r>
              <a:rPr sz="3300" b="1">
                <a:solidFill>
                  <a:srgbClr val="123047"/>
                </a:solidFill>
                <a:latin typeface="Liberation Sans"/>
                <a:ea typeface="Liberation Sans"/>
                <a:cs typeface="Liberation Sans"/>
              </a:rPr>
              <a:t>Country adjustment changes little</a:t>
            </a:r>
          </a:p>
        </p:txBody>
      </p:sp>
      <p:sp>
        <p:nvSpPr>
          <p:cNvPr id="2" name="slide-number">
            <a:extLst xmlns:a="http://schemas.openxmlformats.org/drawingml/2006/main">
              <a:ext uri="{FF2B5EF4-FFF2-40B4-BE49-F238E27FC236}">
                <a16:creationId xmlns:a16="http://schemas.microsoft.com/office/drawing/2014/main" id="{6C98B1E6-7BEF-4799-A078-E909A10C7FAA}"/>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26A78"/>
                </a:solidFill>
                <a:latin typeface="Liberation Sans"/>
                <a:ea typeface="Liberation Sans"/>
                <a:cs typeface="Liberation Sans"/>
              </a:defRPr>
            </a:defPPr>
            <a:lvl1pPr>
              <a:defRPr sz="1350" b="0">
                <a:solidFill>
                  <a:srgbClr val="526A78"/>
                </a:solidFill>
                <a:latin typeface="Liberation Sans"/>
                <a:ea typeface="Liberation Sans"/>
                <a:cs typeface="Liberation Sans"/>
              </a:defRPr>
            </a:lvl1pPr>
            <a:lvl2pPr>
              <a:defRPr sz="1350" b="0">
                <a:solidFill>
                  <a:srgbClr val="526A78"/>
                </a:solidFill>
                <a:latin typeface="Liberation Sans"/>
                <a:ea typeface="Liberation Sans"/>
                <a:cs typeface="Liberation Sans"/>
              </a:defRPr>
            </a:lvl2pPr>
            <a:lvl3pPr>
              <a:defRPr sz="1350" b="0">
                <a:solidFill>
                  <a:srgbClr val="526A78"/>
                </a:solidFill>
                <a:latin typeface="Liberation Sans"/>
                <a:ea typeface="Liberation Sans"/>
                <a:cs typeface="Liberation Sans"/>
              </a:defRPr>
            </a:lvl3pPr>
            <a:lvl4pPr>
              <a:defRPr sz="1350" b="0">
                <a:solidFill>
                  <a:srgbClr val="526A78"/>
                </a:solidFill>
                <a:latin typeface="Liberation Sans"/>
                <a:ea typeface="Liberation Sans"/>
                <a:cs typeface="Liberation Sans"/>
              </a:defRPr>
            </a:lvl4pPr>
            <a:lvl5pPr>
              <a:defRPr sz="1350" b="0">
                <a:solidFill>
                  <a:srgbClr val="526A78"/>
                </a:solidFill>
                <a:latin typeface="Liberation Sans"/>
                <a:ea typeface="Liberation Sans"/>
                <a:cs typeface="Liberation Sans"/>
              </a:defRPr>
            </a:lvl5pPr>
            <a:lvl6pPr>
              <a:defRPr sz="1350" b="0">
                <a:solidFill>
                  <a:srgbClr val="526A78"/>
                </a:solidFill>
                <a:latin typeface="Liberation Sans"/>
                <a:ea typeface="Liberation Sans"/>
                <a:cs typeface="Liberation Sans"/>
              </a:defRPr>
            </a:lvl6pPr>
            <a:lvl7pPr>
              <a:defRPr sz="1350" b="0">
                <a:solidFill>
                  <a:srgbClr val="526A78"/>
                </a:solidFill>
                <a:latin typeface="Liberation Sans"/>
                <a:ea typeface="Liberation Sans"/>
                <a:cs typeface="Liberation Sans"/>
              </a:defRPr>
            </a:lvl7pPr>
            <a:lvl8pPr>
              <a:defRPr sz="1350" b="0">
                <a:solidFill>
                  <a:srgbClr val="526A78"/>
                </a:solidFill>
                <a:latin typeface="Liberation Sans"/>
                <a:ea typeface="Liberation Sans"/>
                <a:cs typeface="Liberation Sans"/>
              </a:defRPr>
            </a:lvl8pPr>
            <a:lvl9pPr>
              <a:defRPr sz="1350" b="0">
                <a:solidFill>
                  <a:srgbClr val="526A78"/>
                </a:solidFill>
                <a:latin typeface="Liberation Sans"/>
                <a:ea typeface="Liberation Sans"/>
                <a:cs typeface="Liberation Sans"/>
              </a:defRPr>
            </a:lvl9pPr>
          </a:lstStyle>
          <a:p xmlns:a="http://schemas.openxmlformats.org/drawingml/2006/main">
            <a:pPr>
              <a:defRPr sz="1350" b="0">
                <a:solidFill>
                  <a:srgbClr val="526A78"/>
                </a:solidFill>
                <a:latin typeface="Liberation Sans"/>
                <a:ea typeface="Liberation Sans"/>
                <a:cs typeface="Liberation Sans"/>
              </a:defRPr>
            </a:pPr>
            <a:r>
              <a:rPr sz="1350" b="0">
                <a:solidFill>
                  <a:srgbClr val="526A78"/>
                </a:solidFill>
                <a:latin typeface="Liberation Sans"/>
                <a:ea typeface="Liberation Sans"/>
                <a:cs typeface="Liberation Sans"/>
              </a:rPr>
              <a:t>04</a:t>
            </a:r>
          </a:p>
        </p:txBody>
      </p:sp>
      <p:sp>
        <p:nvSpPr>
          <p:cNvPr id="3" name="country-subtitle">
            <a:extLst xmlns:a="http://schemas.openxmlformats.org/drawingml/2006/main">
              <a:ext uri="{FF2B5EF4-FFF2-40B4-BE49-F238E27FC236}">
                <a16:creationId xmlns:a16="http://schemas.microsoft.com/office/drawing/2014/main" id="{83ED1D6E-422B-4A1D-983C-6522B25A8462}"/>
              </a:ext>
            </a:extLst>
          </p:cNvPr>
          <p:cNvSpPr>
            <a:spLocks xmlns:a="http://schemas.openxmlformats.org/drawingml/2006/main" noGrp="1"/>
          </p:cNvSpPr>
          <p:nvPr/>
        </p:nvSpPr>
        <p:spPr>
          <a:xfrm xmlns:a="http://schemas.openxmlformats.org/drawingml/2006/main">
            <a:off x="609600" y="1381125"/>
            <a:ext cx="819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526A78"/>
                </a:solidFill>
                <a:latin typeface="Liberation Sans"/>
                <a:ea typeface="Liberation Sans"/>
                <a:cs typeface="Liberation Sans"/>
              </a:defRPr>
            </a:defPPr>
            <a:lvl1pPr>
              <a:defRPr sz="2025" b="0">
                <a:solidFill>
                  <a:srgbClr val="526A78"/>
                </a:solidFill>
                <a:latin typeface="Liberation Sans"/>
                <a:ea typeface="Liberation Sans"/>
                <a:cs typeface="Liberation Sans"/>
              </a:defRPr>
            </a:lvl1pPr>
            <a:lvl2pPr>
              <a:defRPr sz="2025" b="0">
                <a:solidFill>
                  <a:srgbClr val="526A78"/>
                </a:solidFill>
                <a:latin typeface="Liberation Sans"/>
                <a:ea typeface="Liberation Sans"/>
                <a:cs typeface="Liberation Sans"/>
              </a:defRPr>
            </a:lvl2pPr>
            <a:lvl3pPr>
              <a:defRPr sz="2025" b="0">
                <a:solidFill>
                  <a:srgbClr val="526A78"/>
                </a:solidFill>
                <a:latin typeface="Liberation Sans"/>
                <a:ea typeface="Liberation Sans"/>
                <a:cs typeface="Liberation Sans"/>
              </a:defRPr>
            </a:lvl3pPr>
            <a:lvl4pPr>
              <a:defRPr sz="2025" b="0">
                <a:solidFill>
                  <a:srgbClr val="526A78"/>
                </a:solidFill>
                <a:latin typeface="Liberation Sans"/>
                <a:ea typeface="Liberation Sans"/>
                <a:cs typeface="Liberation Sans"/>
              </a:defRPr>
            </a:lvl4pPr>
            <a:lvl5pPr>
              <a:defRPr sz="2025" b="0">
                <a:solidFill>
                  <a:srgbClr val="526A78"/>
                </a:solidFill>
                <a:latin typeface="Liberation Sans"/>
                <a:ea typeface="Liberation Sans"/>
                <a:cs typeface="Liberation Sans"/>
              </a:defRPr>
            </a:lvl5pPr>
            <a:lvl6pPr>
              <a:defRPr sz="2025" b="0">
                <a:solidFill>
                  <a:srgbClr val="526A78"/>
                </a:solidFill>
                <a:latin typeface="Liberation Sans"/>
                <a:ea typeface="Liberation Sans"/>
                <a:cs typeface="Liberation Sans"/>
              </a:defRPr>
            </a:lvl6pPr>
            <a:lvl7pPr>
              <a:defRPr sz="2025" b="0">
                <a:solidFill>
                  <a:srgbClr val="526A78"/>
                </a:solidFill>
                <a:latin typeface="Liberation Sans"/>
                <a:ea typeface="Liberation Sans"/>
                <a:cs typeface="Liberation Sans"/>
              </a:defRPr>
            </a:lvl7pPr>
            <a:lvl8pPr>
              <a:defRPr sz="2025" b="0">
                <a:solidFill>
                  <a:srgbClr val="526A78"/>
                </a:solidFill>
                <a:latin typeface="Liberation Sans"/>
                <a:ea typeface="Liberation Sans"/>
                <a:cs typeface="Liberation Sans"/>
              </a:defRPr>
            </a:lvl8pPr>
            <a:lvl9pPr>
              <a:defRPr sz="2025" b="0">
                <a:solidFill>
                  <a:srgbClr val="526A78"/>
                </a:solidFill>
                <a:latin typeface="Liberation Sans"/>
                <a:ea typeface="Liberation Sans"/>
                <a:cs typeface="Liberation Sans"/>
              </a:defRPr>
            </a:lvl9pPr>
          </a:lstStyle>
          <a:p xmlns:a="http://schemas.openxmlformats.org/drawingml/2006/main">
            <a:pPr>
              <a:defRPr sz="2025" b="0">
                <a:solidFill>
                  <a:srgbClr val="526A78"/>
                </a:solidFill>
                <a:latin typeface="Liberation Sans"/>
                <a:ea typeface="Liberation Sans"/>
                <a:cs typeface="Liberation Sans"/>
              </a:defRPr>
            </a:pPr>
            <a:r>
              <a:rPr sz="2025" b="0">
                <a:solidFill>
                  <a:srgbClr val="526A78"/>
                </a:solidFill>
                <a:latin typeface="Liberation Sans"/>
                <a:ea typeface="Liberation Sans"/>
                <a:cs typeface="Liberation Sans"/>
              </a:rPr>
              <a:t>Conversion by country and assigned group</a:t>
            </a:r>
          </a:p>
        </p:txBody>
      </p:sp>
      <p:graphicFrame>
        <p:nvGraphicFramePr>
          <p:cNvPr id="4" name="Chart">
            <a:extLst xmlns:a="http://schemas.openxmlformats.org/drawingml/2006/main">
              <a:ext uri="{FF2B5EF4-FFF2-40B4-BE49-F238E27FC236}">
                <a16:creationId xmlns:a16="http://schemas.microsoft.com/office/drawing/2014/main" id="{C2570A4B-D3DB-46FD-BF86-FA1900CDE35E}"/>
              </a:ext>
            </a:extLst>
          </p:cNvPr>
          <p:cNvGraphicFramePr/>
          <p:nvPr/>
        </p:nvGraphicFramePr>
        <p:xfrm>
          <a:off xmlns:a="http://schemas.openxmlformats.org/drawingml/2006/main" x="609600" y="2076450"/>
          <a:ext xmlns:a="http://schemas.openxmlformats.org/drawingml/2006/main" cx="7143750" cy="3714750"/>
        </p:xfrm>
        <a:graphic xmlns:a="http://schemas.openxmlformats.org/drawingml/2006/main">
          <a:graphicData uri="http://schemas.openxmlformats.org/drawingml/2006/chart">
            <c:chart xmlns:r="http://schemas.openxmlformats.org/officeDocument/2006/relationships" xmlns:c="http://schemas.openxmlformats.org/drawingml/2006/chart" r:id="R06614fcc81a64c0f"/>
          </a:graphicData>
        </a:graphic>
      </p:graphicFrame>
      <p:sp>
        <p:nvSpPr>
          <p:cNvPr id="5" name="odds-label">
            <a:extLst xmlns:a="http://schemas.openxmlformats.org/drawingml/2006/main">
              <a:ext uri="{FF2B5EF4-FFF2-40B4-BE49-F238E27FC236}">
                <a16:creationId xmlns:a16="http://schemas.microsoft.com/office/drawing/2014/main" id="{FEC734CD-D416-4B5F-8817-381B9734C4B3}"/>
              </a:ext>
            </a:extLst>
          </p:cNvPr>
          <p:cNvSpPr>
            <a:spLocks xmlns:a="http://schemas.openxmlformats.org/drawingml/2006/main" noGrp="1"/>
          </p:cNvSpPr>
          <p:nvPr/>
        </p:nvSpPr>
        <p:spPr>
          <a:xfrm xmlns:a="http://schemas.openxmlformats.org/drawingml/2006/main">
            <a:off x="8286750" y="2095500"/>
            <a:ext cx="3295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526A78"/>
                </a:solidFill>
                <a:latin typeface="Liberation Sans"/>
                <a:ea typeface="Liberation Sans"/>
                <a:cs typeface="Liberation Sans"/>
              </a:defRPr>
            </a:defPPr>
            <a:lvl1pPr>
              <a:defRPr sz="1950" b="0">
                <a:solidFill>
                  <a:srgbClr val="526A78"/>
                </a:solidFill>
                <a:latin typeface="Liberation Sans"/>
                <a:ea typeface="Liberation Sans"/>
                <a:cs typeface="Liberation Sans"/>
              </a:defRPr>
            </a:lvl1pPr>
            <a:lvl2pPr>
              <a:defRPr sz="1950" b="0">
                <a:solidFill>
                  <a:srgbClr val="526A78"/>
                </a:solidFill>
                <a:latin typeface="Liberation Sans"/>
                <a:ea typeface="Liberation Sans"/>
                <a:cs typeface="Liberation Sans"/>
              </a:defRPr>
            </a:lvl2pPr>
            <a:lvl3pPr>
              <a:defRPr sz="1950" b="0">
                <a:solidFill>
                  <a:srgbClr val="526A78"/>
                </a:solidFill>
                <a:latin typeface="Liberation Sans"/>
                <a:ea typeface="Liberation Sans"/>
                <a:cs typeface="Liberation Sans"/>
              </a:defRPr>
            </a:lvl3pPr>
            <a:lvl4pPr>
              <a:defRPr sz="1950" b="0">
                <a:solidFill>
                  <a:srgbClr val="526A78"/>
                </a:solidFill>
                <a:latin typeface="Liberation Sans"/>
                <a:ea typeface="Liberation Sans"/>
                <a:cs typeface="Liberation Sans"/>
              </a:defRPr>
            </a:lvl4pPr>
            <a:lvl5pPr>
              <a:defRPr sz="1950" b="0">
                <a:solidFill>
                  <a:srgbClr val="526A78"/>
                </a:solidFill>
                <a:latin typeface="Liberation Sans"/>
                <a:ea typeface="Liberation Sans"/>
                <a:cs typeface="Liberation Sans"/>
              </a:defRPr>
            </a:lvl5pPr>
            <a:lvl6pPr>
              <a:defRPr sz="1950" b="0">
                <a:solidFill>
                  <a:srgbClr val="526A78"/>
                </a:solidFill>
                <a:latin typeface="Liberation Sans"/>
                <a:ea typeface="Liberation Sans"/>
                <a:cs typeface="Liberation Sans"/>
              </a:defRPr>
            </a:lvl6pPr>
            <a:lvl7pPr>
              <a:defRPr sz="1950" b="0">
                <a:solidFill>
                  <a:srgbClr val="526A78"/>
                </a:solidFill>
                <a:latin typeface="Liberation Sans"/>
                <a:ea typeface="Liberation Sans"/>
                <a:cs typeface="Liberation Sans"/>
              </a:defRPr>
            </a:lvl7pPr>
            <a:lvl8pPr>
              <a:defRPr sz="1950" b="0">
                <a:solidFill>
                  <a:srgbClr val="526A78"/>
                </a:solidFill>
                <a:latin typeface="Liberation Sans"/>
                <a:ea typeface="Liberation Sans"/>
                <a:cs typeface="Liberation Sans"/>
              </a:defRPr>
            </a:lvl8pPr>
            <a:lvl9pPr>
              <a:defRPr sz="1950" b="0">
                <a:solidFill>
                  <a:srgbClr val="526A78"/>
                </a:solidFill>
                <a:latin typeface="Liberation Sans"/>
                <a:ea typeface="Liberation Sans"/>
                <a:cs typeface="Liberation Sans"/>
              </a:defRPr>
            </a:lvl9pPr>
          </a:lstStyle>
          <a:p xmlns:a="http://schemas.openxmlformats.org/drawingml/2006/main">
            <a:pPr>
              <a:defRPr sz="1950" b="0">
                <a:solidFill>
                  <a:srgbClr val="526A78"/>
                </a:solidFill>
                <a:latin typeface="Liberation Sans"/>
                <a:ea typeface="Liberation Sans"/>
                <a:cs typeface="Liberation Sans"/>
              </a:defRPr>
            </a:pPr>
            <a:r>
              <a:rPr sz="1950" b="0">
                <a:solidFill>
                  <a:srgbClr val="526A78"/>
                </a:solidFill>
                <a:latin typeface="Liberation Sans"/>
                <a:ea typeface="Liberation Sans"/>
                <a:cs typeface="Liberation Sans"/>
              </a:rPr>
              <a:t>Treatment odds ratio</a:t>
            </a:r>
          </a:p>
        </p:txBody>
      </p:sp>
      <p:sp>
        <p:nvSpPr>
          <p:cNvPr id="6" name="unadjusted-or">
            <a:extLst xmlns:a="http://schemas.openxmlformats.org/drawingml/2006/main">
              <a:ext uri="{FF2B5EF4-FFF2-40B4-BE49-F238E27FC236}">
                <a16:creationId xmlns:a16="http://schemas.microsoft.com/office/drawing/2014/main" id="{FF799273-9DF9-4E81-8F5A-487699604C3C}"/>
              </a:ext>
            </a:extLst>
          </p:cNvPr>
          <p:cNvSpPr>
            <a:spLocks xmlns:a="http://schemas.openxmlformats.org/drawingml/2006/main" noGrp="1"/>
          </p:cNvSpPr>
          <p:nvPr/>
        </p:nvSpPr>
        <p:spPr>
          <a:xfrm xmlns:a="http://schemas.openxmlformats.org/drawingml/2006/main">
            <a:off x="8286750" y="2686050"/>
            <a:ext cx="32956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123047"/>
                </a:solidFill>
                <a:latin typeface="Liberation Sans"/>
                <a:ea typeface="Liberation Sans"/>
                <a:cs typeface="Liberation Sans"/>
              </a:defRPr>
            </a:defPPr>
            <a:lvl1pPr>
              <a:defRPr sz="3450" b="1">
                <a:solidFill>
                  <a:srgbClr val="123047"/>
                </a:solidFill>
                <a:latin typeface="Liberation Sans"/>
                <a:ea typeface="Liberation Sans"/>
                <a:cs typeface="Liberation Sans"/>
              </a:defRPr>
            </a:lvl1pPr>
            <a:lvl2pPr>
              <a:defRPr sz="3450" b="1">
                <a:solidFill>
                  <a:srgbClr val="123047"/>
                </a:solidFill>
                <a:latin typeface="Liberation Sans"/>
                <a:ea typeface="Liberation Sans"/>
                <a:cs typeface="Liberation Sans"/>
              </a:defRPr>
            </a:lvl2pPr>
            <a:lvl3pPr>
              <a:defRPr sz="3450" b="1">
                <a:solidFill>
                  <a:srgbClr val="123047"/>
                </a:solidFill>
                <a:latin typeface="Liberation Sans"/>
                <a:ea typeface="Liberation Sans"/>
                <a:cs typeface="Liberation Sans"/>
              </a:defRPr>
            </a:lvl3pPr>
            <a:lvl4pPr>
              <a:defRPr sz="3450" b="1">
                <a:solidFill>
                  <a:srgbClr val="123047"/>
                </a:solidFill>
                <a:latin typeface="Liberation Sans"/>
                <a:ea typeface="Liberation Sans"/>
                <a:cs typeface="Liberation Sans"/>
              </a:defRPr>
            </a:lvl4pPr>
            <a:lvl5pPr>
              <a:defRPr sz="3450" b="1">
                <a:solidFill>
                  <a:srgbClr val="123047"/>
                </a:solidFill>
                <a:latin typeface="Liberation Sans"/>
                <a:ea typeface="Liberation Sans"/>
                <a:cs typeface="Liberation Sans"/>
              </a:defRPr>
            </a:lvl5pPr>
            <a:lvl6pPr>
              <a:defRPr sz="3450" b="1">
                <a:solidFill>
                  <a:srgbClr val="123047"/>
                </a:solidFill>
                <a:latin typeface="Liberation Sans"/>
                <a:ea typeface="Liberation Sans"/>
                <a:cs typeface="Liberation Sans"/>
              </a:defRPr>
            </a:lvl6pPr>
            <a:lvl7pPr>
              <a:defRPr sz="3450" b="1">
                <a:solidFill>
                  <a:srgbClr val="123047"/>
                </a:solidFill>
                <a:latin typeface="Liberation Sans"/>
                <a:ea typeface="Liberation Sans"/>
                <a:cs typeface="Liberation Sans"/>
              </a:defRPr>
            </a:lvl7pPr>
            <a:lvl8pPr>
              <a:defRPr sz="3450" b="1">
                <a:solidFill>
                  <a:srgbClr val="123047"/>
                </a:solidFill>
                <a:latin typeface="Liberation Sans"/>
                <a:ea typeface="Liberation Sans"/>
                <a:cs typeface="Liberation Sans"/>
              </a:defRPr>
            </a:lvl8pPr>
            <a:lvl9pPr>
              <a:defRPr sz="3450" b="1">
                <a:solidFill>
                  <a:srgbClr val="123047"/>
                </a:solidFill>
                <a:latin typeface="Liberation Sans"/>
                <a:ea typeface="Liberation Sans"/>
                <a:cs typeface="Liberation Sans"/>
              </a:defRPr>
            </a:lvl9pPr>
          </a:lstStyle>
          <a:p xmlns:a="http://schemas.openxmlformats.org/drawingml/2006/main">
            <a:pPr>
              <a:defRPr sz="3450" b="1">
                <a:solidFill>
                  <a:srgbClr val="123047"/>
                </a:solidFill>
                <a:latin typeface="Liberation Sans"/>
                <a:ea typeface="Liberation Sans"/>
                <a:cs typeface="Liberation Sans"/>
              </a:defRPr>
            </a:pPr>
            <a:r>
              <a:rPr sz="3450" b="1">
                <a:solidFill>
                  <a:srgbClr val="123047"/>
                </a:solidFill>
                <a:latin typeface="Liberation Sans"/>
                <a:ea typeface="Liberation Sans"/>
                <a:cs typeface="Liberation Sans"/>
              </a:rPr>
              <a:t>1.56314</a:t>
            </a:r>
          </a:p>
        </p:txBody>
      </p:sp>
      <p:sp>
        <p:nvSpPr>
          <p:cNvPr id="7" name="unadjusted-label">
            <a:extLst xmlns:a="http://schemas.openxmlformats.org/drawingml/2006/main">
              <a:ext uri="{FF2B5EF4-FFF2-40B4-BE49-F238E27FC236}">
                <a16:creationId xmlns:a16="http://schemas.microsoft.com/office/drawing/2014/main" id="{6E24F117-28C6-4147-B265-7F02BB337C58}"/>
              </a:ext>
            </a:extLst>
          </p:cNvPr>
          <p:cNvSpPr>
            <a:spLocks xmlns:a="http://schemas.openxmlformats.org/drawingml/2006/main" noGrp="1"/>
          </p:cNvSpPr>
          <p:nvPr/>
        </p:nvSpPr>
        <p:spPr>
          <a:xfrm xmlns:a="http://schemas.openxmlformats.org/drawingml/2006/main">
            <a:off x="8286750" y="3238500"/>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526A78"/>
                </a:solidFill>
                <a:latin typeface="Liberation Sans"/>
                <a:ea typeface="Liberation Sans"/>
                <a:cs typeface="Liberation Sans"/>
              </a:defRPr>
            </a:defPPr>
            <a:lvl1pPr>
              <a:defRPr sz="1800" b="0">
                <a:solidFill>
                  <a:srgbClr val="526A78"/>
                </a:solidFill>
                <a:latin typeface="Liberation Sans"/>
                <a:ea typeface="Liberation Sans"/>
                <a:cs typeface="Liberation Sans"/>
              </a:defRPr>
            </a:lvl1pPr>
            <a:lvl2pPr>
              <a:defRPr sz="1800" b="0">
                <a:solidFill>
                  <a:srgbClr val="526A78"/>
                </a:solidFill>
                <a:latin typeface="Liberation Sans"/>
                <a:ea typeface="Liberation Sans"/>
                <a:cs typeface="Liberation Sans"/>
              </a:defRPr>
            </a:lvl2pPr>
            <a:lvl3pPr>
              <a:defRPr sz="1800" b="0">
                <a:solidFill>
                  <a:srgbClr val="526A78"/>
                </a:solidFill>
                <a:latin typeface="Liberation Sans"/>
                <a:ea typeface="Liberation Sans"/>
                <a:cs typeface="Liberation Sans"/>
              </a:defRPr>
            </a:lvl3pPr>
            <a:lvl4pPr>
              <a:defRPr sz="1800" b="0">
                <a:solidFill>
                  <a:srgbClr val="526A78"/>
                </a:solidFill>
                <a:latin typeface="Liberation Sans"/>
                <a:ea typeface="Liberation Sans"/>
                <a:cs typeface="Liberation Sans"/>
              </a:defRPr>
            </a:lvl4pPr>
            <a:lvl5pPr>
              <a:defRPr sz="1800" b="0">
                <a:solidFill>
                  <a:srgbClr val="526A78"/>
                </a:solidFill>
                <a:latin typeface="Liberation Sans"/>
                <a:ea typeface="Liberation Sans"/>
                <a:cs typeface="Liberation Sans"/>
              </a:defRPr>
            </a:lvl5pPr>
            <a:lvl6pPr>
              <a:defRPr sz="1800" b="0">
                <a:solidFill>
                  <a:srgbClr val="526A78"/>
                </a:solidFill>
                <a:latin typeface="Liberation Sans"/>
                <a:ea typeface="Liberation Sans"/>
                <a:cs typeface="Liberation Sans"/>
              </a:defRPr>
            </a:lvl6pPr>
            <a:lvl7pPr>
              <a:defRPr sz="1800" b="0">
                <a:solidFill>
                  <a:srgbClr val="526A78"/>
                </a:solidFill>
                <a:latin typeface="Liberation Sans"/>
                <a:ea typeface="Liberation Sans"/>
                <a:cs typeface="Liberation Sans"/>
              </a:defRPr>
            </a:lvl7pPr>
            <a:lvl8pPr>
              <a:defRPr sz="1800" b="0">
                <a:solidFill>
                  <a:srgbClr val="526A78"/>
                </a:solidFill>
                <a:latin typeface="Liberation Sans"/>
                <a:ea typeface="Liberation Sans"/>
                <a:cs typeface="Liberation Sans"/>
              </a:defRPr>
            </a:lvl8pPr>
            <a:lvl9pPr>
              <a:defRPr sz="1800" b="0">
                <a:solidFill>
                  <a:srgbClr val="526A78"/>
                </a:solidFill>
                <a:latin typeface="Liberation Sans"/>
                <a:ea typeface="Liberation Sans"/>
                <a:cs typeface="Liberation Sans"/>
              </a:defRPr>
            </a:lvl9pPr>
          </a:lstStyle>
          <a:p xmlns:a="http://schemas.openxmlformats.org/drawingml/2006/main">
            <a:pPr>
              <a:defRPr sz="1800" b="0">
                <a:solidFill>
                  <a:srgbClr val="526A78"/>
                </a:solidFill>
                <a:latin typeface="Liberation Sans"/>
                <a:ea typeface="Liberation Sans"/>
                <a:cs typeface="Liberation Sans"/>
              </a:defRPr>
            </a:pPr>
            <a:r>
              <a:rPr sz="1800" b="0">
                <a:solidFill>
                  <a:srgbClr val="526A78"/>
                </a:solidFill>
                <a:latin typeface="Liberation Sans"/>
                <a:ea typeface="Liberation Sans"/>
                <a:cs typeface="Liberation Sans"/>
              </a:rPr>
              <a:t>Unadjusted</a:t>
            </a:r>
          </a:p>
        </p:txBody>
      </p:sp>
      <p:sp>
        <p:nvSpPr>
          <p:cNvPr id="8" name="adjusted-or">
            <a:extLst xmlns:a="http://schemas.openxmlformats.org/drawingml/2006/main">
              <a:ext uri="{FF2B5EF4-FFF2-40B4-BE49-F238E27FC236}">
                <a16:creationId xmlns:a16="http://schemas.microsoft.com/office/drawing/2014/main" id="{B11A4F79-1AB9-487C-9914-E43265C254CB}"/>
              </a:ext>
            </a:extLst>
          </p:cNvPr>
          <p:cNvSpPr>
            <a:spLocks xmlns:a="http://schemas.openxmlformats.org/drawingml/2006/main" noGrp="1"/>
          </p:cNvSpPr>
          <p:nvPr/>
        </p:nvSpPr>
        <p:spPr>
          <a:xfrm xmlns:a="http://schemas.openxmlformats.org/drawingml/2006/main">
            <a:off x="8286750" y="3905250"/>
            <a:ext cx="32956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007E87"/>
                </a:solidFill>
                <a:latin typeface="Liberation Sans"/>
                <a:ea typeface="Liberation Sans"/>
                <a:cs typeface="Liberation Sans"/>
              </a:defRPr>
            </a:defPPr>
            <a:lvl1pPr>
              <a:defRPr sz="3450" b="1">
                <a:solidFill>
                  <a:srgbClr val="007E87"/>
                </a:solidFill>
                <a:latin typeface="Liberation Sans"/>
                <a:ea typeface="Liberation Sans"/>
                <a:cs typeface="Liberation Sans"/>
              </a:defRPr>
            </a:lvl1pPr>
            <a:lvl2pPr>
              <a:defRPr sz="3450" b="1">
                <a:solidFill>
                  <a:srgbClr val="007E87"/>
                </a:solidFill>
                <a:latin typeface="Liberation Sans"/>
                <a:ea typeface="Liberation Sans"/>
                <a:cs typeface="Liberation Sans"/>
              </a:defRPr>
            </a:lvl2pPr>
            <a:lvl3pPr>
              <a:defRPr sz="3450" b="1">
                <a:solidFill>
                  <a:srgbClr val="007E87"/>
                </a:solidFill>
                <a:latin typeface="Liberation Sans"/>
                <a:ea typeface="Liberation Sans"/>
                <a:cs typeface="Liberation Sans"/>
              </a:defRPr>
            </a:lvl3pPr>
            <a:lvl4pPr>
              <a:defRPr sz="3450" b="1">
                <a:solidFill>
                  <a:srgbClr val="007E87"/>
                </a:solidFill>
                <a:latin typeface="Liberation Sans"/>
                <a:ea typeface="Liberation Sans"/>
                <a:cs typeface="Liberation Sans"/>
              </a:defRPr>
            </a:lvl4pPr>
            <a:lvl5pPr>
              <a:defRPr sz="3450" b="1">
                <a:solidFill>
                  <a:srgbClr val="007E87"/>
                </a:solidFill>
                <a:latin typeface="Liberation Sans"/>
                <a:ea typeface="Liberation Sans"/>
                <a:cs typeface="Liberation Sans"/>
              </a:defRPr>
            </a:lvl5pPr>
            <a:lvl6pPr>
              <a:defRPr sz="3450" b="1">
                <a:solidFill>
                  <a:srgbClr val="007E87"/>
                </a:solidFill>
                <a:latin typeface="Liberation Sans"/>
                <a:ea typeface="Liberation Sans"/>
                <a:cs typeface="Liberation Sans"/>
              </a:defRPr>
            </a:lvl6pPr>
            <a:lvl7pPr>
              <a:defRPr sz="3450" b="1">
                <a:solidFill>
                  <a:srgbClr val="007E87"/>
                </a:solidFill>
                <a:latin typeface="Liberation Sans"/>
                <a:ea typeface="Liberation Sans"/>
                <a:cs typeface="Liberation Sans"/>
              </a:defRPr>
            </a:lvl7pPr>
            <a:lvl8pPr>
              <a:defRPr sz="3450" b="1">
                <a:solidFill>
                  <a:srgbClr val="007E87"/>
                </a:solidFill>
                <a:latin typeface="Liberation Sans"/>
                <a:ea typeface="Liberation Sans"/>
                <a:cs typeface="Liberation Sans"/>
              </a:defRPr>
            </a:lvl8pPr>
            <a:lvl9pPr>
              <a:defRPr sz="3450" b="1">
                <a:solidFill>
                  <a:srgbClr val="007E87"/>
                </a:solidFill>
                <a:latin typeface="Liberation Sans"/>
                <a:ea typeface="Liberation Sans"/>
                <a:cs typeface="Liberation Sans"/>
              </a:defRPr>
            </a:lvl9pPr>
          </a:lstStyle>
          <a:p xmlns:a="http://schemas.openxmlformats.org/drawingml/2006/main">
            <a:pPr>
              <a:defRPr sz="3450" b="1">
                <a:solidFill>
                  <a:srgbClr val="007E87"/>
                </a:solidFill>
                <a:latin typeface="Liberation Sans"/>
                <a:ea typeface="Liberation Sans"/>
                <a:cs typeface="Liberation Sans"/>
              </a:defRPr>
            </a:pPr>
            <a:r>
              <a:rPr sz="3450" b="1">
                <a:solidFill>
                  <a:srgbClr val="007E87"/>
                </a:solidFill>
                <a:latin typeface="Liberation Sans"/>
                <a:ea typeface="Liberation Sans"/>
                <a:cs typeface="Liberation Sans"/>
              </a:rPr>
              <a:t>1.56302</a:t>
            </a:r>
          </a:p>
        </p:txBody>
      </p:sp>
      <p:sp>
        <p:nvSpPr>
          <p:cNvPr id="9" name="adjusted-label">
            <a:extLst xmlns:a="http://schemas.openxmlformats.org/drawingml/2006/main">
              <a:ext uri="{FF2B5EF4-FFF2-40B4-BE49-F238E27FC236}">
                <a16:creationId xmlns:a16="http://schemas.microsoft.com/office/drawing/2014/main" id="{22311B04-5E34-40C3-ABCD-FB8364339DFD}"/>
              </a:ext>
            </a:extLst>
          </p:cNvPr>
          <p:cNvSpPr>
            <a:spLocks xmlns:a="http://schemas.openxmlformats.org/drawingml/2006/main" noGrp="1"/>
          </p:cNvSpPr>
          <p:nvPr/>
        </p:nvSpPr>
        <p:spPr>
          <a:xfrm xmlns:a="http://schemas.openxmlformats.org/drawingml/2006/main">
            <a:off x="8286750" y="4457700"/>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526A78"/>
                </a:solidFill>
                <a:latin typeface="Liberation Sans"/>
                <a:ea typeface="Liberation Sans"/>
                <a:cs typeface="Liberation Sans"/>
              </a:defRPr>
            </a:defPPr>
            <a:lvl1pPr>
              <a:defRPr sz="1800" b="0">
                <a:solidFill>
                  <a:srgbClr val="526A78"/>
                </a:solidFill>
                <a:latin typeface="Liberation Sans"/>
                <a:ea typeface="Liberation Sans"/>
                <a:cs typeface="Liberation Sans"/>
              </a:defRPr>
            </a:lvl1pPr>
            <a:lvl2pPr>
              <a:defRPr sz="1800" b="0">
                <a:solidFill>
                  <a:srgbClr val="526A78"/>
                </a:solidFill>
                <a:latin typeface="Liberation Sans"/>
                <a:ea typeface="Liberation Sans"/>
                <a:cs typeface="Liberation Sans"/>
              </a:defRPr>
            </a:lvl2pPr>
            <a:lvl3pPr>
              <a:defRPr sz="1800" b="0">
                <a:solidFill>
                  <a:srgbClr val="526A78"/>
                </a:solidFill>
                <a:latin typeface="Liberation Sans"/>
                <a:ea typeface="Liberation Sans"/>
                <a:cs typeface="Liberation Sans"/>
              </a:defRPr>
            </a:lvl3pPr>
            <a:lvl4pPr>
              <a:defRPr sz="1800" b="0">
                <a:solidFill>
                  <a:srgbClr val="526A78"/>
                </a:solidFill>
                <a:latin typeface="Liberation Sans"/>
                <a:ea typeface="Liberation Sans"/>
                <a:cs typeface="Liberation Sans"/>
              </a:defRPr>
            </a:lvl4pPr>
            <a:lvl5pPr>
              <a:defRPr sz="1800" b="0">
                <a:solidFill>
                  <a:srgbClr val="526A78"/>
                </a:solidFill>
                <a:latin typeface="Liberation Sans"/>
                <a:ea typeface="Liberation Sans"/>
                <a:cs typeface="Liberation Sans"/>
              </a:defRPr>
            </a:lvl5pPr>
            <a:lvl6pPr>
              <a:defRPr sz="1800" b="0">
                <a:solidFill>
                  <a:srgbClr val="526A78"/>
                </a:solidFill>
                <a:latin typeface="Liberation Sans"/>
                <a:ea typeface="Liberation Sans"/>
                <a:cs typeface="Liberation Sans"/>
              </a:defRPr>
            </a:lvl6pPr>
            <a:lvl7pPr>
              <a:defRPr sz="1800" b="0">
                <a:solidFill>
                  <a:srgbClr val="526A78"/>
                </a:solidFill>
                <a:latin typeface="Liberation Sans"/>
                <a:ea typeface="Liberation Sans"/>
                <a:cs typeface="Liberation Sans"/>
              </a:defRPr>
            </a:lvl7pPr>
            <a:lvl8pPr>
              <a:defRPr sz="1800" b="0">
                <a:solidFill>
                  <a:srgbClr val="526A78"/>
                </a:solidFill>
                <a:latin typeface="Liberation Sans"/>
                <a:ea typeface="Liberation Sans"/>
                <a:cs typeface="Liberation Sans"/>
              </a:defRPr>
            </a:lvl8pPr>
            <a:lvl9pPr>
              <a:defRPr sz="1800" b="0">
                <a:solidFill>
                  <a:srgbClr val="526A78"/>
                </a:solidFill>
                <a:latin typeface="Liberation Sans"/>
                <a:ea typeface="Liberation Sans"/>
                <a:cs typeface="Liberation Sans"/>
              </a:defRPr>
            </a:lvl9pPr>
          </a:lstStyle>
          <a:p xmlns:a="http://schemas.openxmlformats.org/drawingml/2006/main">
            <a:pPr>
              <a:defRPr sz="1800" b="0">
                <a:solidFill>
                  <a:srgbClr val="526A78"/>
                </a:solidFill>
                <a:latin typeface="Liberation Sans"/>
                <a:ea typeface="Liberation Sans"/>
                <a:cs typeface="Liberation Sans"/>
              </a:defRPr>
            </a:pPr>
            <a:r>
              <a:rPr sz="1800" b="0">
                <a:solidFill>
                  <a:srgbClr val="526A78"/>
                </a:solidFill>
                <a:latin typeface="Liberation Sans"/>
                <a:ea typeface="Liberation Sans"/>
                <a:cs typeface="Liberation Sans"/>
              </a:rPr>
              <a:t>Adjusted for country</a:t>
            </a:r>
          </a:p>
        </p:txBody>
      </p:sp>
      <p:sp>
        <p:nvSpPr>
          <p:cNvPr id="10" name="standardized">
            <a:extLst xmlns:a="http://schemas.openxmlformats.org/drawingml/2006/main">
              <a:ext uri="{FF2B5EF4-FFF2-40B4-BE49-F238E27FC236}">
                <a16:creationId xmlns:a16="http://schemas.microsoft.com/office/drawing/2014/main" id="{09C43881-BCA9-4645-AE80-CB749BE428E7}"/>
              </a:ext>
            </a:extLst>
          </p:cNvPr>
          <p:cNvSpPr>
            <a:spLocks xmlns:a="http://schemas.openxmlformats.org/drawingml/2006/main" noGrp="1"/>
          </p:cNvSpPr>
          <p:nvPr/>
        </p:nvSpPr>
        <p:spPr>
          <a:xfrm xmlns:a="http://schemas.openxmlformats.org/drawingml/2006/main">
            <a:off x="609600" y="601027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123047"/>
                </a:solidFill>
                <a:latin typeface="Liberation Sans"/>
                <a:ea typeface="Liberation Sans"/>
                <a:cs typeface="Liberation Sans"/>
              </a:defRPr>
            </a:defPPr>
            <a:lvl1pPr>
              <a:defRPr sz="1725" b="0">
                <a:solidFill>
                  <a:srgbClr val="123047"/>
                </a:solidFill>
                <a:latin typeface="Liberation Sans"/>
                <a:ea typeface="Liberation Sans"/>
                <a:cs typeface="Liberation Sans"/>
              </a:defRPr>
            </a:lvl1pPr>
            <a:lvl2pPr>
              <a:defRPr sz="1725" b="0">
                <a:solidFill>
                  <a:srgbClr val="123047"/>
                </a:solidFill>
                <a:latin typeface="Liberation Sans"/>
                <a:ea typeface="Liberation Sans"/>
                <a:cs typeface="Liberation Sans"/>
              </a:defRPr>
            </a:lvl2pPr>
            <a:lvl3pPr>
              <a:defRPr sz="1725" b="0">
                <a:solidFill>
                  <a:srgbClr val="123047"/>
                </a:solidFill>
                <a:latin typeface="Liberation Sans"/>
                <a:ea typeface="Liberation Sans"/>
                <a:cs typeface="Liberation Sans"/>
              </a:defRPr>
            </a:lvl3pPr>
            <a:lvl4pPr>
              <a:defRPr sz="1725" b="0">
                <a:solidFill>
                  <a:srgbClr val="123047"/>
                </a:solidFill>
                <a:latin typeface="Liberation Sans"/>
                <a:ea typeface="Liberation Sans"/>
                <a:cs typeface="Liberation Sans"/>
              </a:defRPr>
            </a:lvl4pPr>
            <a:lvl5pPr>
              <a:defRPr sz="1725" b="0">
                <a:solidFill>
                  <a:srgbClr val="123047"/>
                </a:solidFill>
                <a:latin typeface="Liberation Sans"/>
                <a:ea typeface="Liberation Sans"/>
                <a:cs typeface="Liberation Sans"/>
              </a:defRPr>
            </a:lvl5pPr>
            <a:lvl6pPr>
              <a:defRPr sz="1725" b="0">
                <a:solidFill>
                  <a:srgbClr val="123047"/>
                </a:solidFill>
                <a:latin typeface="Liberation Sans"/>
                <a:ea typeface="Liberation Sans"/>
                <a:cs typeface="Liberation Sans"/>
              </a:defRPr>
            </a:lvl6pPr>
            <a:lvl7pPr>
              <a:defRPr sz="1725" b="0">
                <a:solidFill>
                  <a:srgbClr val="123047"/>
                </a:solidFill>
                <a:latin typeface="Liberation Sans"/>
                <a:ea typeface="Liberation Sans"/>
                <a:cs typeface="Liberation Sans"/>
              </a:defRPr>
            </a:lvl7pPr>
            <a:lvl8pPr>
              <a:defRPr sz="1725" b="0">
                <a:solidFill>
                  <a:srgbClr val="123047"/>
                </a:solidFill>
                <a:latin typeface="Liberation Sans"/>
                <a:ea typeface="Liberation Sans"/>
                <a:cs typeface="Liberation Sans"/>
              </a:defRPr>
            </a:lvl8pPr>
            <a:lvl9pPr>
              <a:defRPr sz="1725" b="0">
                <a:solidFill>
                  <a:srgbClr val="123047"/>
                </a:solidFill>
                <a:latin typeface="Liberation Sans"/>
                <a:ea typeface="Liberation Sans"/>
                <a:cs typeface="Liberation Sans"/>
              </a:defRPr>
            </a:lvl9pPr>
          </a:lstStyle>
          <a:p xmlns:a="http://schemas.openxmlformats.org/drawingml/2006/main">
            <a:pPr>
              <a:defRPr sz="1725" b="0">
                <a:solidFill>
                  <a:srgbClr val="123047"/>
                </a:solidFill>
                <a:latin typeface="Liberation Sans"/>
                <a:ea typeface="Liberation Sans"/>
                <a:cs typeface="Liberation Sans"/>
              </a:defRPr>
            </a:pPr>
            <a:r>
              <a:rPr sz="1725" b="0">
                <a:solidFill>
                  <a:srgbClr val="123047"/>
                </a:solidFill>
                <a:latin typeface="Liberation Sans"/>
                <a:ea typeface="Liberation Sans"/>
                <a:cs typeface="Liberation Sans"/>
              </a:rPr>
              <a:t>Standardized difference: 5.00524 pp, point estimate only</a:t>
            </a:r>
          </a:p>
        </p:txBody>
      </p:sp>
    </p:spTree>
    <p:extLst>
      <p:ext uri="{BB962C8B-B14F-4D97-AF65-F5344CB8AC3E}">
        <p14:creationId xmlns:p14="http://schemas.microsoft.com/office/powerpoint/2010/main" val="391838489"/>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51A0E327-17F1-48D8-BB29-9BD4C63F8807}"/>
              </a:ext>
            </a:extLst>
          </p:cNvPr>
          <p:cNvSpPr>
            <a:spLocks xmlns:a="http://schemas.openxmlformats.org/drawingml/2006/main" noGrp="1"/>
          </p:cNvSpPr>
          <p:nvPr/>
        </p:nvSpPr>
        <p:spPr>
          <a:xfrm xmlns:a="http://schemas.openxmlformats.org/drawingml/2006/main">
            <a:off x="609600" y="495300"/>
            <a:ext cx="1097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3047"/>
                </a:solidFill>
                <a:latin typeface="Liberation Sans"/>
                <a:ea typeface="Liberation Sans"/>
                <a:cs typeface="Liberation Sans"/>
              </a:defRPr>
            </a:defPPr>
            <a:lvl1pPr>
              <a:defRPr sz="3300" b="1">
                <a:solidFill>
                  <a:srgbClr val="123047"/>
                </a:solidFill>
                <a:latin typeface="Liberation Sans"/>
                <a:ea typeface="Liberation Sans"/>
                <a:cs typeface="Liberation Sans"/>
              </a:defRPr>
            </a:lvl1pPr>
            <a:lvl2pPr>
              <a:defRPr sz="3300" b="1">
                <a:solidFill>
                  <a:srgbClr val="123047"/>
                </a:solidFill>
                <a:latin typeface="Liberation Sans"/>
                <a:ea typeface="Liberation Sans"/>
                <a:cs typeface="Liberation Sans"/>
              </a:defRPr>
            </a:lvl2pPr>
            <a:lvl3pPr>
              <a:defRPr sz="3300" b="1">
                <a:solidFill>
                  <a:srgbClr val="123047"/>
                </a:solidFill>
                <a:latin typeface="Liberation Sans"/>
                <a:ea typeface="Liberation Sans"/>
                <a:cs typeface="Liberation Sans"/>
              </a:defRPr>
            </a:lvl3pPr>
            <a:lvl4pPr>
              <a:defRPr sz="3300" b="1">
                <a:solidFill>
                  <a:srgbClr val="123047"/>
                </a:solidFill>
                <a:latin typeface="Liberation Sans"/>
                <a:ea typeface="Liberation Sans"/>
                <a:cs typeface="Liberation Sans"/>
              </a:defRPr>
            </a:lvl4pPr>
            <a:lvl5pPr>
              <a:defRPr sz="3300" b="1">
                <a:solidFill>
                  <a:srgbClr val="123047"/>
                </a:solidFill>
                <a:latin typeface="Liberation Sans"/>
                <a:ea typeface="Liberation Sans"/>
                <a:cs typeface="Liberation Sans"/>
              </a:defRPr>
            </a:lvl5pPr>
            <a:lvl6pPr>
              <a:defRPr sz="3300" b="1">
                <a:solidFill>
                  <a:srgbClr val="123047"/>
                </a:solidFill>
                <a:latin typeface="Liberation Sans"/>
                <a:ea typeface="Liberation Sans"/>
                <a:cs typeface="Liberation Sans"/>
              </a:defRPr>
            </a:lvl6pPr>
            <a:lvl7pPr>
              <a:defRPr sz="3300" b="1">
                <a:solidFill>
                  <a:srgbClr val="123047"/>
                </a:solidFill>
                <a:latin typeface="Liberation Sans"/>
                <a:ea typeface="Liberation Sans"/>
                <a:cs typeface="Liberation Sans"/>
              </a:defRPr>
            </a:lvl7pPr>
            <a:lvl8pPr>
              <a:defRPr sz="3300" b="1">
                <a:solidFill>
                  <a:srgbClr val="123047"/>
                </a:solidFill>
                <a:latin typeface="Liberation Sans"/>
                <a:ea typeface="Liberation Sans"/>
                <a:cs typeface="Liberation Sans"/>
              </a:defRPr>
            </a:lvl8pPr>
            <a:lvl9pPr>
              <a:defRPr sz="3300" b="1">
                <a:solidFill>
                  <a:srgbClr val="123047"/>
                </a:solidFill>
                <a:latin typeface="Liberation Sans"/>
                <a:ea typeface="Liberation Sans"/>
                <a:cs typeface="Liberation Sans"/>
              </a:defRPr>
            </a:lvl9pPr>
          </a:lstStyle>
          <a:p xmlns:a="http://schemas.openxmlformats.org/drawingml/2006/main">
            <a:pPr>
              <a:defRPr sz="3300" b="1">
                <a:solidFill>
                  <a:srgbClr val="123047"/>
                </a:solidFill>
                <a:latin typeface="Liberation Sans"/>
                <a:ea typeface="Liberation Sans"/>
                <a:cs typeface="Liberation Sans"/>
              </a:defRPr>
            </a:pPr>
            <a:r>
              <a:rPr sz="3300" b="1">
                <a:solidFill>
                  <a:srgbClr val="123047"/>
                </a:solidFill>
                <a:latin typeface="Liberation Sans"/>
                <a:ea typeface="Liberation Sans"/>
                <a:cs typeface="Liberation Sans"/>
              </a:rPr>
              <a:t>Data quality has a clear boundary</a:t>
            </a:r>
          </a:p>
        </p:txBody>
      </p:sp>
      <p:sp>
        <p:nvSpPr>
          <p:cNvPr id="2" name="slide-number">
            <a:extLst xmlns:a="http://schemas.openxmlformats.org/drawingml/2006/main">
              <a:ext uri="{FF2B5EF4-FFF2-40B4-BE49-F238E27FC236}">
                <a16:creationId xmlns:a16="http://schemas.microsoft.com/office/drawing/2014/main" id="{5EC2C711-66BA-479A-99D1-A676B9AB1245}"/>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26A78"/>
                </a:solidFill>
                <a:latin typeface="Liberation Sans"/>
                <a:ea typeface="Liberation Sans"/>
                <a:cs typeface="Liberation Sans"/>
              </a:defRPr>
            </a:defPPr>
            <a:lvl1pPr>
              <a:defRPr sz="1350" b="0">
                <a:solidFill>
                  <a:srgbClr val="526A78"/>
                </a:solidFill>
                <a:latin typeface="Liberation Sans"/>
                <a:ea typeface="Liberation Sans"/>
                <a:cs typeface="Liberation Sans"/>
              </a:defRPr>
            </a:lvl1pPr>
            <a:lvl2pPr>
              <a:defRPr sz="1350" b="0">
                <a:solidFill>
                  <a:srgbClr val="526A78"/>
                </a:solidFill>
                <a:latin typeface="Liberation Sans"/>
                <a:ea typeface="Liberation Sans"/>
                <a:cs typeface="Liberation Sans"/>
              </a:defRPr>
            </a:lvl2pPr>
            <a:lvl3pPr>
              <a:defRPr sz="1350" b="0">
                <a:solidFill>
                  <a:srgbClr val="526A78"/>
                </a:solidFill>
                <a:latin typeface="Liberation Sans"/>
                <a:ea typeface="Liberation Sans"/>
                <a:cs typeface="Liberation Sans"/>
              </a:defRPr>
            </a:lvl3pPr>
            <a:lvl4pPr>
              <a:defRPr sz="1350" b="0">
                <a:solidFill>
                  <a:srgbClr val="526A78"/>
                </a:solidFill>
                <a:latin typeface="Liberation Sans"/>
                <a:ea typeface="Liberation Sans"/>
                <a:cs typeface="Liberation Sans"/>
              </a:defRPr>
            </a:lvl4pPr>
            <a:lvl5pPr>
              <a:defRPr sz="1350" b="0">
                <a:solidFill>
                  <a:srgbClr val="526A78"/>
                </a:solidFill>
                <a:latin typeface="Liberation Sans"/>
                <a:ea typeface="Liberation Sans"/>
                <a:cs typeface="Liberation Sans"/>
              </a:defRPr>
            </a:lvl5pPr>
            <a:lvl6pPr>
              <a:defRPr sz="1350" b="0">
                <a:solidFill>
                  <a:srgbClr val="526A78"/>
                </a:solidFill>
                <a:latin typeface="Liberation Sans"/>
                <a:ea typeface="Liberation Sans"/>
                <a:cs typeface="Liberation Sans"/>
              </a:defRPr>
            </a:lvl6pPr>
            <a:lvl7pPr>
              <a:defRPr sz="1350" b="0">
                <a:solidFill>
                  <a:srgbClr val="526A78"/>
                </a:solidFill>
                <a:latin typeface="Liberation Sans"/>
                <a:ea typeface="Liberation Sans"/>
                <a:cs typeface="Liberation Sans"/>
              </a:defRPr>
            </a:lvl7pPr>
            <a:lvl8pPr>
              <a:defRPr sz="1350" b="0">
                <a:solidFill>
                  <a:srgbClr val="526A78"/>
                </a:solidFill>
                <a:latin typeface="Liberation Sans"/>
                <a:ea typeface="Liberation Sans"/>
                <a:cs typeface="Liberation Sans"/>
              </a:defRPr>
            </a:lvl8pPr>
            <a:lvl9pPr>
              <a:defRPr sz="1350" b="0">
                <a:solidFill>
                  <a:srgbClr val="526A78"/>
                </a:solidFill>
                <a:latin typeface="Liberation Sans"/>
                <a:ea typeface="Liberation Sans"/>
                <a:cs typeface="Liberation Sans"/>
              </a:defRPr>
            </a:lvl9pPr>
          </a:lstStyle>
          <a:p xmlns:a="http://schemas.openxmlformats.org/drawingml/2006/main">
            <a:pPr>
              <a:defRPr sz="1350" b="0">
                <a:solidFill>
                  <a:srgbClr val="526A78"/>
                </a:solidFill>
                <a:latin typeface="Liberation Sans"/>
                <a:ea typeface="Liberation Sans"/>
                <a:cs typeface="Liberation Sans"/>
              </a:defRPr>
            </a:pPr>
            <a:r>
              <a:rPr sz="1350" b="0">
                <a:solidFill>
                  <a:srgbClr val="526A78"/>
                </a:solidFill>
                <a:latin typeface="Liberation Sans"/>
                <a:ea typeface="Liberation Sans"/>
                <a:cs typeface="Liberation Sans"/>
              </a:rPr>
              <a:t>05</a:t>
            </a:r>
          </a:p>
        </p:txBody>
      </p:sp>
      <p:sp>
        <p:nvSpPr>
          <p:cNvPr id="3" name="rows">
            <a:extLst xmlns:a="http://schemas.openxmlformats.org/drawingml/2006/main">
              <a:ext uri="{FF2B5EF4-FFF2-40B4-BE49-F238E27FC236}">
                <a16:creationId xmlns:a16="http://schemas.microsoft.com/office/drawing/2014/main" id="{E7A28268-662D-49F4-B657-8CE10C8069F0}"/>
              </a:ext>
            </a:extLst>
          </p:cNvPr>
          <p:cNvSpPr>
            <a:spLocks xmlns:a="http://schemas.openxmlformats.org/drawingml/2006/main" noGrp="1"/>
          </p:cNvSpPr>
          <p:nvPr/>
        </p:nvSpPr>
        <p:spPr>
          <a:xfrm xmlns:a="http://schemas.openxmlformats.org/drawingml/2006/main">
            <a:off x="609600" y="1714500"/>
            <a:ext cx="4572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100" b="1">
                <a:solidFill>
                  <a:srgbClr val="007E87"/>
                </a:solidFill>
                <a:latin typeface="Liberation Sans"/>
                <a:ea typeface="Liberation Sans"/>
                <a:cs typeface="Liberation Sans"/>
              </a:defRPr>
            </a:defPPr>
            <a:lvl1pPr>
              <a:defRPr sz="5100" b="1">
                <a:solidFill>
                  <a:srgbClr val="007E87"/>
                </a:solidFill>
                <a:latin typeface="Liberation Sans"/>
                <a:ea typeface="Liberation Sans"/>
                <a:cs typeface="Liberation Sans"/>
              </a:defRPr>
            </a:lvl1pPr>
            <a:lvl2pPr>
              <a:defRPr sz="5100" b="1">
                <a:solidFill>
                  <a:srgbClr val="007E87"/>
                </a:solidFill>
                <a:latin typeface="Liberation Sans"/>
                <a:ea typeface="Liberation Sans"/>
                <a:cs typeface="Liberation Sans"/>
              </a:defRPr>
            </a:lvl2pPr>
            <a:lvl3pPr>
              <a:defRPr sz="5100" b="1">
                <a:solidFill>
                  <a:srgbClr val="007E87"/>
                </a:solidFill>
                <a:latin typeface="Liberation Sans"/>
                <a:ea typeface="Liberation Sans"/>
                <a:cs typeface="Liberation Sans"/>
              </a:defRPr>
            </a:lvl3pPr>
            <a:lvl4pPr>
              <a:defRPr sz="5100" b="1">
                <a:solidFill>
                  <a:srgbClr val="007E87"/>
                </a:solidFill>
                <a:latin typeface="Liberation Sans"/>
                <a:ea typeface="Liberation Sans"/>
                <a:cs typeface="Liberation Sans"/>
              </a:defRPr>
            </a:lvl4pPr>
            <a:lvl5pPr>
              <a:defRPr sz="5100" b="1">
                <a:solidFill>
                  <a:srgbClr val="007E87"/>
                </a:solidFill>
                <a:latin typeface="Liberation Sans"/>
                <a:ea typeface="Liberation Sans"/>
                <a:cs typeface="Liberation Sans"/>
              </a:defRPr>
            </a:lvl5pPr>
            <a:lvl6pPr>
              <a:defRPr sz="5100" b="1">
                <a:solidFill>
                  <a:srgbClr val="007E87"/>
                </a:solidFill>
                <a:latin typeface="Liberation Sans"/>
                <a:ea typeface="Liberation Sans"/>
                <a:cs typeface="Liberation Sans"/>
              </a:defRPr>
            </a:lvl6pPr>
            <a:lvl7pPr>
              <a:defRPr sz="5100" b="1">
                <a:solidFill>
                  <a:srgbClr val="007E87"/>
                </a:solidFill>
                <a:latin typeface="Liberation Sans"/>
                <a:ea typeface="Liberation Sans"/>
                <a:cs typeface="Liberation Sans"/>
              </a:defRPr>
            </a:lvl7pPr>
            <a:lvl8pPr>
              <a:defRPr sz="5100" b="1">
                <a:solidFill>
                  <a:srgbClr val="007E87"/>
                </a:solidFill>
                <a:latin typeface="Liberation Sans"/>
                <a:ea typeface="Liberation Sans"/>
                <a:cs typeface="Liberation Sans"/>
              </a:defRPr>
            </a:lvl8pPr>
            <a:lvl9pPr>
              <a:defRPr sz="5100" b="1">
                <a:solidFill>
                  <a:srgbClr val="007E87"/>
                </a:solidFill>
                <a:latin typeface="Liberation Sans"/>
                <a:ea typeface="Liberation Sans"/>
                <a:cs typeface="Liberation Sans"/>
              </a:defRPr>
            </a:lvl9pPr>
          </a:lstStyle>
          <a:p xmlns:a="http://schemas.openxmlformats.org/drawingml/2006/main">
            <a:pPr>
              <a:defRPr sz="5100" b="1">
                <a:solidFill>
                  <a:srgbClr val="007E87"/>
                </a:solidFill>
                <a:latin typeface="Liberation Sans"/>
                <a:ea typeface="Liberation Sans"/>
                <a:cs typeface="Liberation Sans"/>
              </a:defRPr>
            </a:pPr>
            <a:r>
              <a:rPr sz="5100" b="1">
                <a:solidFill>
                  <a:srgbClr val="007E87"/>
                </a:solidFill>
                <a:latin typeface="Liberation Sans"/>
                <a:ea typeface="Liberation Sans"/>
                <a:cs typeface="Liberation Sans"/>
              </a:rPr>
              <a:t>69,889</a:t>
            </a:r>
          </a:p>
        </p:txBody>
      </p:sp>
      <p:sp>
        <p:nvSpPr>
          <p:cNvPr id="4" name="rows-label">
            <a:extLst xmlns:a="http://schemas.openxmlformats.org/drawingml/2006/main">
              <a:ext uri="{FF2B5EF4-FFF2-40B4-BE49-F238E27FC236}">
                <a16:creationId xmlns:a16="http://schemas.microsoft.com/office/drawing/2014/main" id="{1D5AF160-E17F-493B-847C-6C2D4A4D6347}"/>
              </a:ext>
            </a:extLst>
          </p:cNvPr>
          <p:cNvSpPr>
            <a:spLocks xmlns:a="http://schemas.openxmlformats.org/drawingml/2006/main" noGrp="1"/>
          </p:cNvSpPr>
          <p:nvPr/>
        </p:nvSpPr>
        <p:spPr>
          <a:xfrm xmlns:a="http://schemas.openxmlformats.org/drawingml/2006/main">
            <a:off x="609600" y="2714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526A78"/>
                </a:solidFill>
                <a:latin typeface="Liberation Sans"/>
                <a:ea typeface="Liberation Sans"/>
                <a:cs typeface="Liberation Sans"/>
              </a:defRPr>
            </a:defPPr>
            <a:lvl1pPr>
              <a:defRPr sz="2025" b="0">
                <a:solidFill>
                  <a:srgbClr val="526A78"/>
                </a:solidFill>
                <a:latin typeface="Liberation Sans"/>
                <a:ea typeface="Liberation Sans"/>
                <a:cs typeface="Liberation Sans"/>
              </a:defRPr>
            </a:lvl1pPr>
            <a:lvl2pPr>
              <a:defRPr sz="2025" b="0">
                <a:solidFill>
                  <a:srgbClr val="526A78"/>
                </a:solidFill>
                <a:latin typeface="Liberation Sans"/>
                <a:ea typeface="Liberation Sans"/>
                <a:cs typeface="Liberation Sans"/>
              </a:defRPr>
            </a:lvl2pPr>
            <a:lvl3pPr>
              <a:defRPr sz="2025" b="0">
                <a:solidFill>
                  <a:srgbClr val="526A78"/>
                </a:solidFill>
                <a:latin typeface="Liberation Sans"/>
                <a:ea typeface="Liberation Sans"/>
                <a:cs typeface="Liberation Sans"/>
              </a:defRPr>
            </a:lvl3pPr>
            <a:lvl4pPr>
              <a:defRPr sz="2025" b="0">
                <a:solidFill>
                  <a:srgbClr val="526A78"/>
                </a:solidFill>
                <a:latin typeface="Liberation Sans"/>
                <a:ea typeface="Liberation Sans"/>
                <a:cs typeface="Liberation Sans"/>
              </a:defRPr>
            </a:lvl4pPr>
            <a:lvl5pPr>
              <a:defRPr sz="2025" b="0">
                <a:solidFill>
                  <a:srgbClr val="526A78"/>
                </a:solidFill>
                <a:latin typeface="Liberation Sans"/>
                <a:ea typeface="Liberation Sans"/>
                <a:cs typeface="Liberation Sans"/>
              </a:defRPr>
            </a:lvl5pPr>
            <a:lvl6pPr>
              <a:defRPr sz="2025" b="0">
                <a:solidFill>
                  <a:srgbClr val="526A78"/>
                </a:solidFill>
                <a:latin typeface="Liberation Sans"/>
                <a:ea typeface="Liberation Sans"/>
                <a:cs typeface="Liberation Sans"/>
              </a:defRPr>
            </a:lvl6pPr>
            <a:lvl7pPr>
              <a:defRPr sz="2025" b="0">
                <a:solidFill>
                  <a:srgbClr val="526A78"/>
                </a:solidFill>
                <a:latin typeface="Liberation Sans"/>
                <a:ea typeface="Liberation Sans"/>
                <a:cs typeface="Liberation Sans"/>
              </a:defRPr>
            </a:lvl7pPr>
            <a:lvl8pPr>
              <a:defRPr sz="2025" b="0">
                <a:solidFill>
                  <a:srgbClr val="526A78"/>
                </a:solidFill>
                <a:latin typeface="Liberation Sans"/>
                <a:ea typeface="Liberation Sans"/>
                <a:cs typeface="Liberation Sans"/>
              </a:defRPr>
            </a:lvl8pPr>
            <a:lvl9pPr>
              <a:defRPr sz="2025" b="0">
                <a:solidFill>
                  <a:srgbClr val="526A78"/>
                </a:solidFill>
                <a:latin typeface="Liberation Sans"/>
                <a:ea typeface="Liberation Sans"/>
                <a:cs typeface="Liberation Sans"/>
              </a:defRPr>
            </a:lvl9pPr>
          </a:lstStyle>
          <a:p xmlns:a="http://schemas.openxmlformats.org/drawingml/2006/main">
            <a:pPr>
              <a:defRPr sz="2025" b="0">
                <a:solidFill>
                  <a:srgbClr val="526A78"/>
                </a:solidFill>
                <a:latin typeface="Liberation Sans"/>
                <a:ea typeface="Liberation Sans"/>
                <a:cs typeface="Liberation Sans"/>
              </a:defRPr>
            </a:pPr>
            <a:r>
              <a:rPr sz="2025" b="0">
                <a:solidFill>
                  <a:srgbClr val="526A78"/>
                </a:solidFill>
                <a:latin typeface="Liberation Sans"/>
                <a:ea typeface="Liberation Sans"/>
                <a:cs typeface="Liberation Sans"/>
              </a:rPr>
              <a:t>rows in the source file</a:t>
            </a:r>
          </a:p>
        </p:txBody>
      </p:sp>
      <p:sp>
        <p:nvSpPr>
          <p:cNvPr id="5" name="missing">
            <a:extLst xmlns:a="http://schemas.openxmlformats.org/drawingml/2006/main">
              <a:ext uri="{FF2B5EF4-FFF2-40B4-BE49-F238E27FC236}">
                <a16:creationId xmlns:a16="http://schemas.microsoft.com/office/drawing/2014/main" id="{5BCAF37B-53A3-4957-84B6-3639973D4DB4}"/>
              </a:ext>
            </a:extLst>
          </p:cNvPr>
          <p:cNvSpPr>
            <a:spLocks xmlns:a="http://schemas.openxmlformats.org/drawingml/2006/main" noGrp="1"/>
          </p:cNvSpPr>
          <p:nvPr/>
        </p:nvSpPr>
        <p:spPr>
          <a:xfrm xmlns:a="http://schemas.openxmlformats.org/drawingml/2006/main">
            <a:off x="6572250" y="1714500"/>
            <a:ext cx="4667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100" b="1">
                <a:solidFill>
                  <a:srgbClr val="123047"/>
                </a:solidFill>
                <a:latin typeface="Liberation Sans"/>
                <a:ea typeface="Liberation Sans"/>
                <a:cs typeface="Liberation Sans"/>
              </a:defRPr>
            </a:defPPr>
            <a:lvl1pPr>
              <a:defRPr sz="5100" b="1">
                <a:solidFill>
                  <a:srgbClr val="123047"/>
                </a:solidFill>
                <a:latin typeface="Liberation Sans"/>
                <a:ea typeface="Liberation Sans"/>
                <a:cs typeface="Liberation Sans"/>
              </a:defRPr>
            </a:lvl1pPr>
            <a:lvl2pPr>
              <a:defRPr sz="5100" b="1">
                <a:solidFill>
                  <a:srgbClr val="123047"/>
                </a:solidFill>
                <a:latin typeface="Liberation Sans"/>
                <a:ea typeface="Liberation Sans"/>
                <a:cs typeface="Liberation Sans"/>
              </a:defRPr>
            </a:lvl2pPr>
            <a:lvl3pPr>
              <a:defRPr sz="5100" b="1">
                <a:solidFill>
                  <a:srgbClr val="123047"/>
                </a:solidFill>
                <a:latin typeface="Liberation Sans"/>
                <a:ea typeface="Liberation Sans"/>
                <a:cs typeface="Liberation Sans"/>
              </a:defRPr>
            </a:lvl3pPr>
            <a:lvl4pPr>
              <a:defRPr sz="5100" b="1">
                <a:solidFill>
                  <a:srgbClr val="123047"/>
                </a:solidFill>
                <a:latin typeface="Liberation Sans"/>
                <a:ea typeface="Liberation Sans"/>
                <a:cs typeface="Liberation Sans"/>
              </a:defRPr>
            </a:lvl4pPr>
            <a:lvl5pPr>
              <a:defRPr sz="5100" b="1">
                <a:solidFill>
                  <a:srgbClr val="123047"/>
                </a:solidFill>
                <a:latin typeface="Liberation Sans"/>
                <a:ea typeface="Liberation Sans"/>
                <a:cs typeface="Liberation Sans"/>
              </a:defRPr>
            </a:lvl5pPr>
            <a:lvl6pPr>
              <a:defRPr sz="5100" b="1">
                <a:solidFill>
                  <a:srgbClr val="123047"/>
                </a:solidFill>
                <a:latin typeface="Liberation Sans"/>
                <a:ea typeface="Liberation Sans"/>
                <a:cs typeface="Liberation Sans"/>
              </a:defRPr>
            </a:lvl6pPr>
            <a:lvl7pPr>
              <a:defRPr sz="5100" b="1">
                <a:solidFill>
                  <a:srgbClr val="123047"/>
                </a:solidFill>
                <a:latin typeface="Liberation Sans"/>
                <a:ea typeface="Liberation Sans"/>
                <a:cs typeface="Liberation Sans"/>
              </a:defRPr>
            </a:lvl7pPr>
            <a:lvl8pPr>
              <a:defRPr sz="5100" b="1">
                <a:solidFill>
                  <a:srgbClr val="123047"/>
                </a:solidFill>
                <a:latin typeface="Liberation Sans"/>
                <a:ea typeface="Liberation Sans"/>
                <a:cs typeface="Liberation Sans"/>
              </a:defRPr>
            </a:lvl8pPr>
            <a:lvl9pPr>
              <a:defRPr sz="5100" b="1">
                <a:solidFill>
                  <a:srgbClr val="123047"/>
                </a:solidFill>
                <a:latin typeface="Liberation Sans"/>
                <a:ea typeface="Liberation Sans"/>
                <a:cs typeface="Liberation Sans"/>
              </a:defRPr>
            </a:lvl9pPr>
          </a:lstStyle>
          <a:p xmlns:a="http://schemas.openxmlformats.org/drawingml/2006/main">
            <a:pPr>
              <a:defRPr sz="5100" b="1">
                <a:solidFill>
                  <a:srgbClr val="123047"/>
                </a:solidFill>
                <a:latin typeface="Liberation Sans"/>
                <a:ea typeface="Liberation Sans"/>
                <a:cs typeface="Liberation Sans"/>
              </a:defRPr>
            </a:pPr>
            <a:r>
              <a:rPr sz="5100" b="1">
                <a:solidFill>
                  <a:srgbClr val="123047"/>
                </a:solidFill>
                <a:latin typeface="Liberation Sans"/>
                <a:ea typeface="Liberation Sans"/>
                <a:cs typeface="Liberation Sans"/>
              </a:rPr>
              <a:t>0</a:t>
            </a:r>
          </a:p>
        </p:txBody>
      </p:sp>
      <p:sp>
        <p:nvSpPr>
          <p:cNvPr id="6" name="missing-label">
            <a:extLst xmlns:a="http://schemas.openxmlformats.org/drawingml/2006/main">
              <a:ext uri="{FF2B5EF4-FFF2-40B4-BE49-F238E27FC236}">
                <a16:creationId xmlns:a16="http://schemas.microsoft.com/office/drawing/2014/main" id="{D0233C56-6FF0-49FD-B1A9-1ED81F862C4D}"/>
              </a:ext>
            </a:extLst>
          </p:cNvPr>
          <p:cNvSpPr>
            <a:spLocks xmlns:a="http://schemas.openxmlformats.org/drawingml/2006/main" noGrp="1"/>
          </p:cNvSpPr>
          <p:nvPr/>
        </p:nvSpPr>
        <p:spPr>
          <a:xfrm xmlns:a="http://schemas.openxmlformats.org/drawingml/2006/main">
            <a:off x="6572250" y="2714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526A78"/>
                </a:solidFill>
                <a:latin typeface="Liberation Sans"/>
                <a:ea typeface="Liberation Sans"/>
                <a:cs typeface="Liberation Sans"/>
              </a:defRPr>
            </a:defPPr>
            <a:lvl1pPr>
              <a:defRPr sz="2025" b="0">
                <a:solidFill>
                  <a:srgbClr val="526A78"/>
                </a:solidFill>
                <a:latin typeface="Liberation Sans"/>
                <a:ea typeface="Liberation Sans"/>
                <a:cs typeface="Liberation Sans"/>
              </a:defRPr>
            </a:lvl1pPr>
            <a:lvl2pPr>
              <a:defRPr sz="2025" b="0">
                <a:solidFill>
                  <a:srgbClr val="526A78"/>
                </a:solidFill>
                <a:latin typeface="Liberation Sans"/>
                <a:ea typeface="Liberation Sans"/>
                <a:cs typeface="Liberation Sans"/>
              </a:defRPr>
            </a:lvl2pPr>
            <a:lvl3pPr>
              <a:defRPr sz="2025" b="0">
                <a:solidFill>
                  <a:srgbClr val="526A78"/>
                </a:solidFill>
                <a:latin typeface="Liberation Sans"/>
                <a:ea typeface="Liberation Sans"/>
                <a:cs typeface="Liberation Sans"/>
              </a:defRPr>
            </a:lvl3pPr>
            <a:lvl4pPr>
              <a:defRPr sz="2025" b="0">
                <a:solidFill>
                  <a:srgbClr val="526A78"/>
                </a:solidFill>
                <a:latin typeface="Liberation Sans"/>
                <a:ea typeface="Liberation Sans"/>
                <a:cs typeface="Liberation Sans"/>
              </a:defRPr>
            </a:lvl4pPr>
            <a:lvl5pPr>
              <a:defRPr sz="2025" b="0">
                <a:solidFill>
                  <a:srgbClr val="526A78"/>
                </a:solidFill>
                <a:latin typeface="Liberation Sans"/>
                <a:ea typeface="Liberation Sans"/>
                <a:cs typeface="Liberation Sans"/>
              </a:defRPr>
            </a:lvl5pPr>
            <a:lvl6pPr>
              <a:defRPr sz="2025" b="0">
                <a:solidFill>
                  <a:srgbClr val="526A78"/>
                </a:solidFill>
                <a:latin typeface="Liberation Sans"/>
                <a:ea typeface="Liberation Sans"/>
                <a:cs typeface="Liberation Sans"/>
              </a:defRPr>
            </a:lvl6pPr>
            <a:lvl7pPr>
              <a:defRPr sz="2025" b="0">
                <a:solidFill>
                  <a:srgbClr val="526A78"/>
                </a:solidFill>
                <a:latin typeface="Liberation Sans"/>
                <a:ea typeface="Liberation Sans"/>
                <a:cs typeface="Liberation Sans"/>
              </a:defRPr>
            </a:lvl7pPr>
            <a:lvl8pPr>
              <a:defRPr sz="2025" b="0">
                <a:solidFill>
                  <a:srgbClr val="526A78"/>
                </a:solidFill>
                <a:latin typeface="Liberation Sans"/>
                <a:ea typeface="Liberation Sans"/>
                <a:cs typeface="Liberation Sans"/>
              </a:defRPr>
            </a:lvl8pPr>
            <a:lvl9pPr>
              <a:defRPr sz="2025" b="0">
                <a:solidFill>
                  <a:srgbClr val="526A78"/>
                </a:solidFill>
                <a:latin typeface="Liberation Sans"/>
                <a:ea typeface="Liberation Sans"/>
                <a:cs typeface="Liberation Sans"/>
              </a:defRPr>
            </a:lvl9pPr>
          </a:lstStyle>
          <a:p xmlns:a="http://schemas.openxmlformats.org/drawingml/2006/main">
            <a:pPr>
              <a:defRPr sz="2025" b="0">
                <a:solidFill>
                  <a:srgbClr val="526A78"/>
                </a:solidFill>
                <a:latin typeface="Liberation Sans"/>
                <a:ea typeface="Liberation Sans"/>
                <a:cs typeface="Liberation Sans"/>
              </a:defRPr>
            </a:pPr>
            <a:r>
              <a:rPr sz="2025" b="0">
                <a:solidFill>
                  <a:srgbClr val="526A78"/>
                </a:solidFill>
                <a:latin typeface="Liberation Sans"/>
                <a:ea typeface="Liberation Sans"/>
                <a:cs typeface="Liberation Sans"/>
              </a:rPr>
              <a:t>missing values in the three fields</a:t>
            </a:r>
          </a:p>
        </p:txBody>
      </p:sp>
      <p:sp>
        <p:nvSpPr>
          <p:cNvPr id="7" name="available-title">
            <a:extLst xmlns:a="http://schemas.openxmlformats.org/drawingml/2006/main">
              <a:ext uri="{FF2B5EF4-FFF2-40B4-BE49-F238E27FC236}">
                <a16:creationId xmlns:a16="http://schemas.microsoft.com/office/drawing/2014/main" id="{DF33E692-C624-4194-8D9F-AF1A33430E57}"/>
              </a:ext>
            </a:extLst>
          </p:cNvPr>
          <p:cNvSpPr>
            <a:spLocks xmlns:a="http://schemas.openxmlformats.org/drawingml/2006/main" noGrp="1"/>
          </p:cNvSpPr>
          <p:nvPr/>
        </p:nvSpPr>
        <p:spPr>
          <a:xfrm xmlns:a="http://schemas.openxmlformats.org/drawingml/2006/main">
            <a:off x="609600" y="36195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123047"/>
                </a:solidFill>
                <a:latin typeface="Liberation Sans"/>
                <a:ea typeface="Liberation Sans"/>
                <a:cs typeface="Liberation Sans"/>
              </a:defRPr>
            </a:defPPr>
            <a:lvl1pPr>
              <a:defRPr sz="2250" b="1">
                <a:solidFill>
                  <a:srgbClr val="123047"/>
                </a:solidFill>
                <a:latin typeface="Liberation Sans"/>
                <a:ea typeface="Liberation Sans"/>
                <a:cs typeface="Liberation Sans"/>
              </a:defRPr>
            </a:lvl1pPr>
            <a:lvl2pPr>
              <a:defRPr sz="2250" b="1">
                <a:solidFill>
                  <a:srgbClr val="123047"/>
                </a:solidFill>
                <a:latin typeface="Liberation Sans"/>
                <a:ea typeface="Liberation Sans"/>
                <a:cs typeface="Liberation Sans"/>
              </a:defRPr>
            </a:lvl2pPr>
            <a:lvl3pPr>
              <a:defRPr sz="2250" b="1">
                <a:solidFill>
                  <a:srgbClr val="123047"/>
                </a:solidFill>
                <a:latin typeface="Liberation Sans"/>
                <a:ea typeface="Liberation Sans"/>
                <a:cs typeface="Liberation Sans"/>
              </a:defRPr>
            </a:lvl3pPr>
            <a:lvl4pPr>
              <a:defRPr sz="2250" b="1">
                <a:solidFill>
                  <a:srgbClr val="123047"/>
                </a:solidFill>
                <a:latin typeface="Liberation Sans"/>
                <a:ea typeface="Liberation Sans"/>
                <a:cs typeface="Liberation Sans"/>
              </a:defRPr>
            </a:lvl4pPr>
            <a:lvl5pPr>
              <a:defRPr sz="2250" b="1">
                <a:solidFill>
                  <a:srgbClr val="123047"/>
                </a:solidFill>
                <a:latin typeface="Liberation Sans"/>
                <a:ea typeface="Liberation Sans"/>
                <a:cs typeface="Liberation Sans"/>
              </a:defRPr>
            </a:lvl5pPr>
            <a:lvl6pPr>
              <a:defRPr sz="2250" b="1">
                <a:solidFill>
                  <a:srgbClr val="123047"/>
                </a:solidFill>
                <a:latin typeface="Liberation Sans"/>
                <a:ea typeface="Liberation Sans"/>
                <a:cs typeface="Liberation Sans"/>
              </a:defRPr>
            </a:lvl6pPr>
            <a:lvl7pPr>
              <a:defRPr sz="2250" b="1">
                <a:solidFill>
                  <a:srgbClr val="123047"/>
                </a:solidFill>
                <a:latin typeface="Liberation Sans"/>
                <a:ea typeface="Liberation Sans"/>
                <a:cs typeface="Liberation Sans"/>
              </a:defRPr>
            </a:lvl7pPr>
            <a:lvl8pPr>
              <a:defRPr sz="2250" b="1">
                <a:solidFill>
                  <a:srgbClr val="123047"/>
                </a:solidFill>
                <a:latin typeface="Liberation Sans"/>
                <a:ea typeface="Liberation Sans"/>
                <a:cs typeface="Liberation Sans"/>
              </a:defRPr>
            </a:lvl8pPr>
            <a:lvl9pPr>
              <a:defRPr sz="2250" b="1">
                <a:solidFill>
                  <a:srgbClr val="123047"/>
                </a:solidFill>
                <a:latin typeface="Liberation Sans"/>
                <a:ea typeface="Liberation Sans"/>
                <a:cs typeface="Liberation Sans"/>
              </a:defRPr>
            </a:lvl9pPr>
          </a:lstStyle>
          <a:p xmlns:a="http://schemas.openxmlformats.org/drawingml/2006/main">
            <a:pPr>
              <a:defRPr sz="2250" b="1">
                <a:solidFill>
                  <a:srgbClr val="123047"/>
                </a:solidFill>
                <a:latin typeface="Liberation Sans"/>
                <a:ea typeface="Liberation Sans"/>
                <a:cs typeface="Liberation Sans"/>
              </a:defRPr>
            </a:pPr>
            <a:r>
              <a:rPr sz="2250" b="1">
                <a:solidFill>
                  <a:srgbClr val="123047"/>
                </a:solidFill>
                <a:latin typeface="Liberation Sans"/>
                <a:ea typeface="Liberation Sans"/>
                <a:cs typeface="Liberation Sans"/>
              </a:rPr>
              <a:t>Available</a:t>
            </a:r>
          </a:p>
        </p:txBody>
      </p:sp>
      <p:sp>
        <p:nvSpPr>
          <p:cNvPr id="8" name="available">
            <a:extLst xmlns:a="http://schemas.openxmlformats.org/drawingml/2006/main">
              <a:ext uri="{FF2B5EF4-FFF2-40B4-BE49-F238E27FC236}">
                <a16:creationId xmlns:a16="http://schemas.microsoft.com/office/drawing/2014/main" id="{768EA0D0-6A8E-4B88-BA9C-9528C8087867}"/>
              </a:ext>
            </a:extLst>
          </p:cNvPr>
          <p:cNvSpPr>
            <a:spLocks xmlns:a="http://schemas.openxmlformats.org/drawingml/2006/main" noGrp="1"/>
          </p:cNvSpPr>
          <p:nvPr/>
        </p:nvSpPr>
        <p:spPr>
          <a:xfrm xmlns:a="http://schemas.openxmlformats.org/drawingml/2006/main">
            <a:off x="609600" y="4181475"/>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3047"/>
                </a:solidFill>
                <a:latin typeface="Liberation Sans"/>
                <a:ea typeface="Liberation Sans"/>
                <a:cs typeface="Liberation Sans"/>
              </a:defRPr>
            </a:defPPr>
            <a:lvl1pPr>
              <a:defRPr sz="2100" b="0">
                <a:solidFill>
                  <a:srgbClr val="123047"/>
                </a:solidFill>
                <a:latin typeface="Liberation Sans"/>
                <a:ea typeface="Liberation Sans"/>
                <a:cs typeface="Liberation Sans"/>
              </a:defRPr>
            </a:lvl1pPr>
            <a:lvl2pPr>
              <a:defRPr sz="2100" b="0">
                <a:solidFill>
                  <a:srgbClr val="123047"/>
                </a:solidFill>
                <a:latin typeface="Liberation Sans"/>
                <a:ea typeface="Liberation Sans"/>
                <a:cs typeface="Liberation Sans"/>
              </a:defRPr>
            </a:lvl2pPr>
            <a:lvl3pPr>
              <a:defRPr sz="2100" b="0">
                <a:solidFill>
                  <a:srgbClr val="123047"/>
                </a:solidFill>
                <a:latin typeface="Liberation Sans"/>
                <a:ea typeface="Liberation Sans"/>
                <a:cs typeface="Liberation Sans"/>
              </a:defRPr>
            </a:lvl3pPr>
            <a:lvl4pPr>
              <a:defRPr sz="2100" b="0">
                <a:solidFill>
                  <a:srgbClr val="123047"/>
                </a:solidFill>
                <a:latin typeface="Liberation Sans"/>
                <a:ea typeface="Liberation Sans"/>
                <a:cs typeface="Liberation Sans"/>
              </a:defRPr>
            </a:lvl4pPr>
            <a:lvl5pPr>
              <a:defRPr sz="2100" b="0">
                <a:solidFill>
                  <a:srgbClr val="123047"/>
                </a:solidFill>
                <a:latin typeface="Liberation Sans"/>
                <a:ea typeface="Liberation Sans"/>
                <a:cs typeface="Liberation Sans"/>
              </a:defRPr>
            </a:lvl5pPr>
            <a:lvl6pPr>
              <a:defRPr sz="2100" b="0">
                <a:solidFill>
                  <a:srgbClr val="123047"/>
                </a:solidFill>
                <a:latin typeface="Liberation Sans"/>
                <a:ea typeface="Liberation Sans"/>
                <a:cs typeface="Liberation Sans"/>
              </a:defRPr>
            </a:lvl6pPr>
            <a:lvl7pPr>
              <a:defRPr sz="2100" b="0">
                <a:solidFill>
                  <a:srgbClr val="123047"/>
                </a:solidFill>
                <a:latin typeface="Liberation Sans"/>
                <a:ea typeface="Liberation Sans"/>
                <a:cs typeface="Liberation Sans"/>
              </a:defRPr>
            </a:lvl7pPr>
            <a:lvl8pPr>
              <a:defRPr sz="2100" b="0">
                <a:solidFill>
                  <a:srgbClr val="123047"/>
                </a:solidFill>
                <a:latin typeface="Liberation Sans"/>
                <a:ea typeface="Liberation Sans"/>
                <a:cs typeface="Liberation Sans"/>
              </a:defRPr>
            </a:lvl8pPr>
            <a:lvl9pPr>
              <a:defRPr sz="2100" b="0">
                <a:solidFill>
                  <a:srgbClr val="123047"/>
                </a:solidFill>
                <a:latin typeface="Liberation Sans"/>
                <a:ea typeface="Liberation Sans"/>
                <a:cs typeface="Liberation Sans"/>
              </a:defRPr>
            </a:lvl9pPr>
          </a:lstStyle>
          <a:p xmlns:a="http://schemas.openxmlformats.org/drawingml/2006/main">
            <a:pPr>
              <a:defRPr sz="2100" b="0">
                <a:solidFill>
                  <a:srgbClr val="123047"/>
                </a:solidFill>
                <a:latin typeface="Liberation Sans"/>
                <a:ea typeface="Liberation Sans"/>
                <a:cs typeface="Liberation Sans"/>
              </a:defRPr>
            </a:pPr>
            <a:r>
              <a:rPr sz="2100" b="0">
                <a:solidFill>
                  <a:srgbClr val="123047"/>
                </a:solidFill>
                <a:latin typeface="Liberation Sans"/>
                <a:ea typeface="Liberation Sans"/>
                <a:cs typeface="Liberation Sans"/>
              </a:rPr>
              <a:t>Country, group and conversion</a:t>
            </a:r>
          </a:p>
          <a:p xmlns:a="http://schemas.openxmlformats.org/drawingml/2006/main">
            <a:pPr>
              <a:defRPr sz="2100" b="0">
                <a:solidFill>
                  <a:srgbClr val="123047"/>
                </a:solidFill>
                <a:latin typeface="Liberation Sans"/>
                <a:ea typeface="Liberation Sans"/>
                <a:cs typeface="Liberation Sans"/>
              </a:defRPr>
            </a:pPr>
            <a:r>
              <a:rPr sz="2100" b="0">
                <a:solidFill>
                  <a:srgbClr val="123047"/>
                </a:solidFill>
                <a:latin typeface="Liberation Sans"/>
                <a:ea typeface="Liberation Sans"/>
                <a:cs typeface="Liberation Sans"/>
              </a:rPr>
              <a:t>Repeated categorical tuples retained</a:t>
            </a:r>
          </a:p>
        </p:txBody>
      </p:sp>
      <p:sp>
        <p:nvSpPr>
          <p:cNvPr id="9" name="missing-title">
            <a:extLst xmlns:a="http://schemas.openxmlformats.org/drawingml/2006/main">
              <a:ext uri="{FF2B5EF4-FFF2-40B4-BE49-F238E27FC236}">
                <a16:creationId xmlns:a16="http://schemas.microsoft.com/office/drawing/2014/main" id="{243D02FD-6E90-4FCE-BEED-9FD961A0AB99}"/>
              </a:ext>
            </a:extLst>
          </p:cNvPr>
          <p:cNvSpPr>
            <a:spLocks xmlns:a="http://schemas.openxmlformats.org/drawingml/2006/main" noGrp="1"/>
          </p:cNvSpPr>
          <p:nvPr/>
        </p:nvSpPr>
        <p:spPr>
          <a:xfrm xmlns:a="http://schemas.openxmlformats.org/drawingml/2006/main">
            <a:off x="6572250" y="36195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123047"/>
                </a:solidFill>
                <a:latin typeface="Liberation Sans"/>
                <a:ea typeface="Liberation Sans"/>
                <a:cs typeface="Liberation Sans"/>
              </a:defRPr>
            </a:defPPr>
            <a:lvl1pPr>
              <a:defRPr sz="2250" b="1">
                <a:solidFill>
                  <a:srgbClr val="123047"/>
                </a:solidFill>
                <a:latin typeface="Liberation Sans"/>
                <a:ea typeface="Liberation Sans"/>
                <a:cs typeface="Liberation Sans"/>
              </a:defRPr>
            </a:lvl1pPr>
            <a:lvl2pPr>
              <a:defRPr sz="2250" b="1">
                <a:solidFill>
                  <a:srgbClr val="123047"/>
                </a:solidFill>
                <a:latin typeface="Liberation Sans"/>
                <a:ea typeface="Liberation Sans"/>
                <a:cs typeface="Liberation Sans"/>
              </a:defRPr>
            </a:lvl2pPr>
            <a:lvl3pPr>
              <a:defRPr sz="2250" b="1">
                <a:solidFill>
                  <a:srgbClr val="123047"/>
                </a:solidFill>
                <a:latin typeface="Liberation Sans"/>
                <a:ea typeface="Liberation Sans"/>
                <a:cs typeface="Liberation Sans"/>
              </a:defRPr>
            </a:lvl3pPr>
            <a:lvl4pPr>
              <a:defRPr sz="2250" b="1">
                <a:solidFill>
                  <a:srgbClr val="123047"/>
                </a:solidFill>
                <a:latin typeface="Liberation Sans"/>
                <a:ea typeface="Liberation Sans"/>
                <a:cs typeface="Liberation Sans"/>
              </a:defRPr>
            </a:lvl4pPr>
            <a:lvl5pPr>
              <a:defRPr sz="2250" b="1">
                <a:solidFill>
                  <a:srgbClr val="123047"/>
                </a:solidFill>
                <a:latin typeface="Liberation Sans"/>
                <a:ea typeface="Liberation Sans"/>
                <a:cs typeface="Liberation Sans"/>
              </a:defRPr>
            </a:lvl5pPr>
            <a:lvl6pPr>
              <a:defRPr sz="2250" b="1">
                <a:solidFill>
                  <a:srgbClr val="123047"/>
                </a:solidFill>
                <a:latin typeface="Liberation Sans"/>
                <a:ea typeface="Liberation Sans"/>
                <a:cs typeface="Liberation Sans"/>
              </a:defRPr>
            </a:lvl6pPr>
            <a:lvl7pPr>
              <a:defRPr sz="2250" b="1">
                <a:solidFill>
                  <a:srgbClr val="123047"/>
                </a:solidFill>
                <a:latin typeface="Liberation Sans"/>
                <a:ea typeface="Liberation Sans"/>
                <a:cs typeface="Liberation Sans"/>
              </a:defRPr>
            </a:lvl7pPr>
            <a:lvl8pPr>
              <a:defRPr sz="2250" b="1">
                <a:solidFill>
                  <a:srgbClr val="123047"/>
                </a:solidFill>
                <a:latin typeface="Liberation Sans"/>
                <a:ea typeface="Liberation Sans"/>
                <a:cs typeface="Liberation Sans"/>
              </a:defRPr>
            </a:lvl8pPr>
            <a:lvl9pPr>
              <a:defRPr sz="2250" b="1">
                <a:solidFill>
                  <a:srgbClr val="123047"/>
                </a:solidFill>
                <a:latin typeface="Liberation Sans"/>
                <a:ea typeface="Liberation Sans"/>
                <a:cs typeface="Liberation Sans"/>
              </a:defRPr>
            </a:lvl9pPr>
          </a:lstStyle>
          <a:p xmlns:a="http://schemas.openxmlformats.org/drawingml/2006/main">
            <a:pPr>
              <a:defRPr sz="2250" b="1">
                <a:solidFill>
                  <a:srgbClr val="123047"/>
                </a:solidFill>
                <a:latin typeface="Liberation Sans"/>
                <a:ea typeface="Liberation Sans"/>
                <a:cs typeface="Liberation Sans"/>
              </a:defRPr>
            </a:pPr>
            <a:r>
              <a:rPr sz="2250" b="1">
                <a:solidFill>
                  <a:srgbClr val="123047"/>
                </a:solidFill>
                <a:latin typeface="Liberation Sans"/>
                <a:ea typeface="Liberation Sans"/>
                <a:cs typeface="Liberation Sans"/>
              </a:rPr>
              <a:t>Not available</a:t>
            </a:r>
          </a:p>
        </p:txBody>
      </p:sp>
      <p:sp>
        <p:nvSpPr>
          <p:cNvPr id="10" name="missing-fields">
            <a:extLst xmlns:a="http://schemas.openxmlformats.org/drawingml/2006/main">
              <a:ext uri="{FF2B5EF4-FFF2-40B4-BE49-F238E27FC236}">
                <a16:creationId xmlns:a16="http://schemas.microsoft.com/office/drawing/2014/main" id="{1BCA861C-1126-4132-A883-F067BFCEB8F6}"/>
              </a:ext>
            </a:extLst>
          </p:cNvPr>
          <p:cNvSpPr>
            <a:spLocks xmlns:a="http://schemas.openxmlformats.org/drawingml/2006/main" noGrp="1"/>
          </p:cNvSpPr>
          <p:nvPr/>
        </p:nvSpPr>
        <p:spPr>
          <a:xfrm xmlns:a="http://schemas.openxmlformats.org/drawingml/2006/main">
            <a:off x="6572250" y="4181475"/>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3047"/>
                </a:solidFill>
                <a:latin typeface="Liberation Sans"/>
                <a:ea typeface="Liberation Sans"/>
                <a:cs typeface="Liberation Sans"/>
              </a:defRPr>
            </a:defPPr>
            <a:lvl1pPr>
              <a:defRPr sz="2100" b="0">
                <a:solidFill>
                  <a:srgbClr val="123047"/>
                </a:solidFill>
                <a:latin typeface="Liberation Sans"/>
                <a:ea typeface="Liberation Sans"/>
                <a:cs typeface="Liberation Sans"/>
              </a:defRPr>
            </a:lvl1pPr>
            <a:lvl2pPr>
              <a:defRPr sz="2100" b="0">
                <a:solidFill>
                  <a:srgbClr val="123047"/>
                </a:solidFill>
                <a:latin typeface="Liberation Sans"/>
                <a:ea typeface="Liberation Sans"/>
                <a:cs typeface="Liberation Sans"/>
              </a:defRPr>
            </a:lvl2pPr>
            <a:lvl3pPr>
              <a:defRPr sz="2100" b="0">
                <a:solidFill>
                  <a:srgbClr val="123047"/>
                </a:solidFill>
                <a:latin typeface="Liberation Sans"/>
                <a:ea typeface="Liberation Sans"/>
                <a:cs typeface="Liberation Sans"/>
              </a:defRPr>
            </a:lvl3pPr>
            <a:lvl4pPr>
              <a:defRPr sz="2100" b="0">
                <a:solidFill>
                  <a:srgbClr val="123047"/>
                </a:solidFill>
                <a:latin typeface="Liberation Sans"/>
                <a:ea typeface="Liberation Sans"/>
                <a:cs typeface="Liberation Sans"/>
              </a:defRPr>
            </a:lvl4pPr>
            <a:lvl5pPr>
              <a:defRPr sz="2100" b="0">
                <a:solidFill>
                  <a:srgbClr val="123047"/>
                </a:solidFill>
                <a:latin typeface="Liberation Sans"/>
                <a:ea typeface="Liberation Sans"/>
                <a:cs typeface="Liberation Sans"/>
              </a:defRPr>
            </a:lvl5pPr>
            <a:lvl6pPr>
              <a:defRPr sz="2100" b="0">
                <a:solidFill>
                  <a:srgbClr val="123047"/>
                </a:solidFill>
                <a:latin typeface="Liberation Sans"/>
                <a:ea typeface="Liberation Sans"/>
                <a:cs typeface="Liberation Sans"/>
              </a:defRPr>
            </a:lvl6pPr>
            <a:lvl7pPr>
              <a:defRPr sz="2100" b="0">
                <a:solidFill>
                  <a:srgbClr val="123047"/>
                </a:solidFill>
                <a:latin typeface="Liberation Sans"/>
                <a:ea typeface="Liberation Sans"/>
                <a:cs typeface="Liberation Sans"/>
              </a:defRPr>
            </a:lvl7pPr>
            <a:lvl8pPr>
              <a:defRPr sz="2100" b="0">
                <a:solidFill>
                  <a:srgbClr val="123047"/>
                </a:solidFill>
                <a:latin typeface="Liberation Sans"/>
                <a:ea typeface="Liberation Sans"/>
                <a:cs typeface="Liberation Sans"/>
              </a:defRPr>
            </a:lvl8pPr>
            <a:lvl9pPr>
              <a:defRPr sz="2100" b="0">
                <a:solidFill>
                  <a:srgbClr val="123047"/>
                </a:solidFill>
                <a:latin typeface="Liberation Sans"/>
                <a:ea typeface="Liberation Sans"/>
                <a:cs typeface="Liberation Sans"/>
              </a:defRPr>
            </a:lvl9pPr>
          </a:lstStyle>
          <a:p xmlns:a="http://schemas.openxmlformats.org/drawingml/2006/main">
            <a:pPr>
              <a:defRPr sz="2100" b="0">
                <a:solidFill>
                  <a:srgbClr val="123047"/>
                </a:solidFill>
                <a:latin typeface="Liberation Sans"/>
                <a:ea typeface="Liberation Sans"/>
                <a:cs typeface="Liberation Sans"/>
              </a:defRPr>
            </a:pPr>
            <a:r>
              <a:rPr sz="2100" b="0">
                <a:solidFill>
                  <a:srgbClr val="123047"/>
                </a:solidFill>
                <a:latin typeface="Liberation Sans"/>
                <a:ea typeface="Liberation Sans"/>
                <a:cs typeface="Liberation Sans"/>
              </a:rPr>
              <a:t>User IDs, timestamps or</a:t>
            </a:r>
          </a:p>
          <a:p xmlns:a="http://schemas.openxmlformats.org/drawingml/2006/main">
            <a:pPr>
              <a:defRPr sz="2100" b="0">
                <a:solidFill>
                  <a:srgbClr val="123047"/>
                </a:solidFill>
                <a:latin typeface="Liberation Sans"/>
                <a:ea typeface="Liberation Sans"/>
                <a:cs typeface="Liberation Sans"/>
              </a:defRPr>
            </a:pPr>
            <a:r>
              <a:rPr sz="2100" b="0">
                <a:solidFill>
                  <a:srgbClr val="123047"/>
                </a:solidFill>
                <a:latin typeface="Liberation Sans"/>
                <a:ea typeface="Liberation Sans"/>
                <a:cs typeface="Liberation Sans"/>
              </a:rPr>
              <a:t>verified randomization details</a:t>
            </a:r>
          </a:p>
        </p:txBody>
      </p:sp>
      <p:sp>
        <p:nvSpPr>
          <p:cNvPr id="11" name="srm">
            <a:extLst xmlns:a="http://schemas.openxmlformats.org/drawingml/2006/main">
              <a:ext uri="{FF2B5EF4-FFF2-40B4-BE49-F238E27FC236}">
                <a16:creationId xmlns:a16="http://schemas.microsoft.com/office/drawing/2014/main" id="{C6F717A1-5C29-4CD9-A9D7-AA86A167389D}"/>
              </a:ext>
            </a:extLst>
          </p:cNvPr>
          <p:cNvSpPr>
            <a:spLocks xmlns:a="http://schemas.openxmlformats.org/drawingml/2006/main" noGrp="1"/>
          </p:cNvSpPr>
          <p:nvPr/>
        </p:nvSpPr>
        <p:spPr>
          <a:xfrm xmlns:a="http://schemas.openxmlformats.org/drawingml/2006/main">
            <a:off x="609600" y="57626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526A78"/>
                </a:solidFill>
                <a:latin typeface="Liberation Sans"/>
                <a:ea typeface="Liberation Sans"/>
                <a:cs typeface="Liberation Sans"/>
              </a:defRPr>
            </a:defPPr>
            <a:lvl1pPr>
              <a:defRPr sz="1725" b="0">
                <a:solidFill>
                  <a:srgbClr val="526A78"/>
                </a:solidFill>
                <a:latin typeface="Liberation Sans"/>
                <a:ea typeface="Liberation Sans"/>
                <a:cs typeface="Liberation Sans"/>
              </a:defRPr>
            </a:lvl1pPr>
            <a:lvl2pPr>
              <a:defRPr sz="1725" b="0">
                <a:solidFill>
                  <a:srgbClr val="526A78"/>
                </a:solidFill>
                <a:latin typeface="Liberation Sans"/>
                <a:ea typeface="Liberation Sans"/>
                <a:cs typeface="Liberation Sans"/>
              </a:defRPr>
            </a:lvl2pPr>
            <a:lvl3pPr>
              <a:defRPr sz="1725" b="0">
                <a:solidFill>
                  <a:srgbClr val="526A78"/>
                </a:solidFill>
                <a:latin typeface="Liberation Sans"/>
                <a:ea typeface="Liberation Sans"/>
                <a:cs typeface="Liberation Sans"/>
              </a:defRPr>
            </a:lvl3pPr>
            <a:lvl4pPr>
              <a:defRPr sz="1725" b="0">
                <a:solidFill>
                  <a:srgbClr val="526A78"/>
                </a:solidFill>
                <a:latin typeface="Liberation Sans"/>
                <a:ea typeface="Liberation Sans"/>
                <a:cs typeface="Liberation Sans"/>
              </a:defRPr>
            </a:lvl4pPr>
            <a:lvl5pPr>
              <a:defRPr sz="1725" b="0">
                <a:solidFill>
                  <a:srgbClr val="526A78"/>
                </a:solidFill>
                <a:latin typeface="Liberation Sans"/>
                <a:ea typeface="Liberation Sans"/>
                <a:cs typeface="Liberation Sans"/>
              </a:defRPr>
            </a:lvl5pPr>
            <a:lvl6pPr>
              <a:defRPr sz="1725" b="0">
                <a:solidFill>
                  <a:srgbClr val="526A78"/>
                </a:solidFill>
                <a:latin typeface="Liberation Sans"/>
                <a:ea typeface="Liberation Sans"/>
                <a:cs typeface="Liberation Sans"/>
              </a:defRPr>
            </a:lvl6pPr>
            <a:lvl7pPr>
              <a:defRPr sz="1725" b="0">
                <a:solidFill>
                  <a:srgbClr val="526A78"/>
                </a:solidFill>
                <a:latin typeface="Liberation Sans"/>
                <a:ea typeface="Liberation Sans"/>
                <a:cs typeface="Liberation Sans"/>
              </a:defRPr>
            </a:lvl7pPr>
            <a:lvl8pPr>
              <a:defRPr sz="1725" b="0">
                <a:solidFill>
                  <a:srgbClr val="526A78"/>
                </a:solidFill>
                <a:latin typeface="Liberation Sans"/>
                <a:ea typeface="Liberation Sans"/>
                <a:cs typeface="Liberation Sans"/>
              </a:defRPr>
            </a:lvl8pPr>
            <a:lvl9pPr>
              <a:defRPr sz="1725" b="0">
                <a:solidFill>
                  <a:srgbClr val="526A78"/>
                </a:solidFill>
                <a:latin typeface="Liberation Sans"/>
                <a:ea typeface="Liberation Sans"/>
                <a:cs typeface="Liberation Sans"/>
              </a:defRPr>
            </a:lvl9pPr>
          </a:lstStyle>
          <a:p xmlns:a="http://schemas.openxmlformats.org/drawingml/2006/main">
            <a:pPr>
              <a:defRPr sz="1725" b="0">
                <a:solidFill>
                  <a:srgbClr val="526A78"/>
                </a:solidFill>
                <a:latin typeface="Liberation Sans"/>
                <a:ea typeface="Liberation Sans"/>
                <a:cs typeface="Liberation Sans"/>
              </a:defRPr>
            </a:pPr>
            <a:r>
              <a:rPr sz="1725" b="0">
                <a:solidFill>
                  <a:srgbClr val="526A78"/>
                </a:solidFill>
                <a:latin typeface="Liberation Sans"/>
                <a:ea typeface="Liberation Sans"/>
                <a:cs typeface="Liberation Sans"/>
              </a:rPr>
              <a:t>Intended allocation unknown. If 50:50, p = 0.0442 prompts a design check.</a:t>
            </a:r>
          </a:p>
        </p:txBody>
      </p:sp>
    </p:spTree>
    <p:extLst>
      <p:ext uri="{BB962C8B-B14F-4D97-AF65-F5344CB8AC3E}">
        <p14:creationId xmlns:p14="http://schemas.microsoft.com/office/powerpoint/2010/main" val="399637150"/>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4769C13-F067-4B72-A663-72859885158C}"/>
              </a:ext>
            </a:extLst>
          </p:cNvPr>
          <p:cNvSpPr>
            <a:spLocks xmlns:a="http://schemas.openxmlformats.org/drawingml/2006/main" noGrp="1"/>
          </p:cNvSpPr>
          <p:nvPr/>
        </p:nvSpPr>
        <p:spPr>
          <a:xfrm xmlns:a="http://schemas.openxmlformats.org/drawingml/2006/main">
            <a:off x="609600" y="495300"/>
            <a:ext cx="1097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3047"/>
                </a:solidFill>
                <a:latin typeface="Liberation Sans"/>
                <a:ea typeface="Liberation Sans"/>
                <a:cs typeface="Liberation Sans"/>
              </a:defRPr>
            </a:defPPr>
            <a:lvl1pPr>
              <a:defRPr sz="3300" b="1">
                <a:solidFill>
                  <a:srgbClr val="123047"/>
                </a:solidFill>
                <a:latin typeface="Liberation Sans"/>
                <a:ea typeface="Liberation Sans"/>
                <a:cs typeface="Liberation Sans"/>
              </a:defRPr>
            </a:lvl1pPr>
            <a:lvl2pPr>
              <a:defRPr sz="3300" b="1">
                <a:solidFill>
                  <a:srgbClr val="123047"/>
                </a:solidFill>
                <a:latin typeface="Liberation Sans"/>
                <a:ea typeface="Liberation Sans"/>
                <a:cs typeface="Liberation Sans"/>
              </a:defRPr>
            </a:lvl2pPr>
            <a:lvl3pPr>
              <a:defRPr sz="3300" b="1">
                <a:solidFill>
                  <a:srgbClr val="123047"/>
                </a:solidFill>
                <a:latin typeface="Liberation Sans"/>
                <a:ea typeface="Liberation Sans"/>
                <a:cs typeface="Liberation Sans"/>
              </a:defRPr>
            </a:lvl3pPr>
            <a:lvl4pPr>
              <a:defRPr sz="3300" b="1">
                <a:solidFill>
                  <a:srgbClr val="123047"/>
                </a:solidFill>
                <a:latin typeface="Liberation Sans"/>
                <a:ea typeface="Liberation Sans"/>
                <a:cs typeface="Liberation Sans"/>
              </a:defRPr>
            </a:lvl4pPr>
            <a:lvl5pPr>
              <a:defRPr sz="3300" b="1">
                <a:solidFill>
                  <a:srgbClr val="123047"/>
                </a:solidFill>
                <a:latin typeface="Liberation Sans"/>
                <a:ea typeface="Liberation Sans"/>
                <a:cs typeface="Liberation Sans"/>
              </a:defRPr>
            </a:lvl5pPr>
            <a:lvl6pPr>
              <a:defRPr sz="3300" b="1">
                <a:solidFill>
                  <a:srgbClr val="123047"/>
                </a:solidFill>
                <a:latin typeface="Liberation Sans"/>
                <a:ea typeface="Liberation Sans"/>
                <a:cs typeface="Liberation Sans"/>
              </a:defRPr>
            </a:lvl6pPr>
            <a:lvl7pPr>
              <a:defRPr sz="3300" b="1">
                <a:solidFill>
                  <a:srgbClr val="123047"/>
                </a:solidFill>
                <a:latin typeface="Liberation Sans"/>
                <a:ea typeface="Liberation Sans"/>
                <a:cs typeface="Liberation Sans"/>
              </a:defRPr>
            </a:lvl7pPr>
            <a:lvl8pPr>
              <a:defRPr sz="3300" b="1">
                <a:solidFill>
                  <a:srgbClr val="123047"/>
                </a:solidFill>
                <a:latin typeface="Liberation Sans"/>
                <a:ea typeface="Liberation Sans"/>
                <a:cs typeface="Liberation Sans"/>
              </a:defRPr>
            </a:lvl8pPr>
            <a:lvl9pPr>
              <a:defRPr sz="3300" b="1">
                <a:solidFill>
                  <a:srgbClr val="123047"/>
                </a:solidFill>
                <a:latin typeface="Liberation Sans"/>
                <a:ea typeface="Liberation Sans"/>
                <a:cs typeface="Liberation Sans"/>
              </a:defRPr>
            </a:lvl9pPr>
          </a:lstStyle>
          <a:p xmlns:a="http://schemas.openxmlformats.org/drawingml/2006/main">
            <a:pPr>
              <a:defRPr sz="3300" b="1">
                <a:solidFill>
                  <a:srgbClr val="123047"/>
                </a:solidFill>
                <a:latin typeface="Liberation Sans"/>
                <a:ea typeface="Liberation Sans"/>
                <a:cs typeface="Liberation Sans"/>
              </a:defRPr>
            </a:pPr>
            <a:r>
              <a:rPr sz="3300" b="1">
                <a:solidFill>
                  <a:srgbClr val="123047"/>
                </a:solidFill>
                <a:latin typeface="Liberation Sans"/>
                <a:ea typeface="Liberation Sans"/>
                <a:cs typeface="Liberation Sans"/>
              </a:rPr>
              <a:t>Business readiness remains unmeasured</a:t>
            </a:r>
          </a:p>
        </p:txBody>
      </p:sp>
      <p:sp>
        <p:nvSpPr>
          <p:cNvPr id="2" name="slide-number">
            <a:extLst xmlns:a="http://schemas.openxmlformats.org/drawingml/2006/main">
              <a:ext uri="{FF2B5EF4-FFF2-40B4-BE49-F238E27FC236}">
                <a16:creationId xmlns:a16="http://schemas.microsoft.com/office/drawing/2014/main" id="{679BAC02-5DBF-4E29-AB48-91F4D4E40E67}"/>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26A78"/>
                </a:solidFill>
                <a:latin typeface="Liberation Sans"/>
                <a:ea typeface="Liberation Sans"/>
                <a:cs typeface="Liberation Sans"/>
              </a:defRPr>
            </a:defPPr>
            <a:lvl1pPr>
              <a:defRPr sz="1350" b="0">
                <a:solidFill>
                  <a:srgbClr val="526A78"/>
                </a:solidFill>
                <a:latin typeface="Liberation Sans"/>
                <a:ea typeface="Liberation Sans"/>
                <a:cs typeface="Liberation Sans"/>
              </a:defRPr>
            </a:lvl1pPr>
            <a:lvl2pPr>
              <a:defRPr sz="1350" b="0">
                <a:solidFill>
                  <a:srgbClr val="526A78"/>
                </a:solidFill>
                <a:latin typeface="Liberation Sans"/>
                <a:ea typeface="Liberation Sans"/>
                <a:cs typeface="Liberation Sans"/>
              </a:defRPr>
            </a:lvl2pPr>
            <a:lvl3pPr>
              <a:defRPr sz="1350" b="0">
                <a:solidFill>
                  <a:srgbClr val="526A78"/>
                </a:solidFill>
                <a:latin typeface="Liberation Sans"/>
                <a:ea typeface="Liberation Sans"/>
                <a:cs typeface="Liberation Sans"/>
              </a:defRPr>
            </a:lvl3pPr>
            <a:lvl4pPr>
              <a:defRPr sz="1350" b="0">
                <a:solidFill>
                  <a:srgbClr val="526A78"/>
                </a:solidFill>
                <a:latin typeface="Liberation Sans"/>
                <a:ea typeface="Liberation Sans"/>
                <a:cs typeface="Liberation Sans"/>
              </a:defRPr>
            </a:lvl4pPr>
            <a:lvl5pPr>
              <a:defRPr sz="1350" b="0">
                <a:solidFill>
                  <a:srgbClr val="526A78"/>
                </a:solidFill>
                <a:latin typeface="Liberation Sans"/>
                <a:ea typeface="Liberation Sans"/>
                <a:cs typeface="Liberation Sans"/>
              </a:defRPr>
            </a:lvl5pPr>
            <a:lvl6pPr>
              <a:defRPr sz="1350" b="0">
                <a:solidFill>
                  <a:srgbClr val="526A78"/>
                </a:solidFill>
                <a:latin typeface="Liberation Sans"/>
                <a:ea typeface="Liberation Sans"/>
                <a:cs typeface="Liberation Sans"/>
              </a:defRPr>
            </a:lvl6pPr>
            <a:lvl7pPr>
              <a:defRPr sz="1350" b="0">
                <a:solidFill>
                  <a:srgbClr val="526A78"/>
                </a:solidFill>
                <a:latin typeface="Liberation Sans"/>
                <a:ea typeface="Liberation Sans"/>
                <a:cs typeface="Liberation Sans"/>
              </a:defRPr>
            </a:lvl7pPr>
            <a:lvl8pPr>
              <a:defRPr sz="1350" b="0">
                <a:solidFill>
                  <a:srgbClr val="526A78"/>
                </a:solidFill>
                <a:latin typeface="Liberation Sans"/>
                <a:ea typeface="Liberation Sans"/>
                <a:cs typeface="Liberation Sans"/>
              </a:defRPr>
            </a:lvl8pPr>
            <a:lvl9pPr>
              <a:defRPr sz="1350" b="0">
                <a:solidFill>
                  <a:srgbClr val="526A78"/>
                </a:solidFill>
                <a:latin typeface="Liberation Sans"/>
                <a:ea typeface="Liberation Sans"/>
                <a:cs typeface="Liberation Sans"/>
              </a:defRPr>
            </a:lvl9pPr>
          </a:lstStyle>
          <a:p xmlns:a="http://schemas.openxmlformats.org/drawingml/2006/main">
            <a:pPr>
              <a:defRPr sz="1350" b="0">
                <a:solidFill>
                  <a:srgbClr val="526A78"/>
                </a:solidFill>
                <a:latin typeface="Liberation Sans"/>
                <a:ea typeface="Liberation Sans"/>
                <a:cs typeface="Liberation Sans"/>
              </a:defRPr>
            </a:pPr>
            <a:r>
              <a:rPr sz="1350" b="0">
                <a:solidFill>
                  <a:srgbClr val="526A78"/>
                </a:solidFill>
                <a:latin typeface="Liberation Sans"/>
                <a:ea typeface="Liberation Sans"/>
                <a:cs typeface="Liberation Sans"/>
              </a:rPr>
              <a:t>06</a:t>
            </a:r>
          </a:p>
        </p:txBody>
      </p:sp>
      <p:sp>
        <p:nvSpPr>
          <p:cNvPr id="3" name="decision">
            <a:extLst xmlns:a="http://schemas.openxmlformats.org/drawingml/2006/main">
              <a:ext uri="{FF2B5EF4-FFF2-40B4-BE49-F238E27FC236}">
                <a16:creationId xmlns:a16="http://schemas.microsoft.com/office/drawing/2014/main" id="{C6F8C25E-12CD-4221-9896-69BFC80AD9A1}"/>
              </a:ext>
            </a:extLst>
          </p:cNvPr>
          <p:cNvSpPr>
            <a:spLocks xmlns:a="http://schemas.openxmlformats.org/drawingml/2006/main" noGrp="1"/>
          </p:cNvSpPr>
          <p:nvPr/>
        </p:nvSpPr>
        <p:spPr>
          <a:xfrm xmlns:a="http://schemas.openxmlformats.org/drawingml/2006/main">
            <a:off x="609600" y="1600200"/>
            <a:ext cx="10477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007E87"/>
                </a:solidFill>
                <a:latin typeface="Liberation Sans"/>
                <a:ea typeface="Liberation Sans"/>
                <a:cs typeface="Liberation Sans"/>
              </a:defRPr>
            </a:defPPr>
            <a:lvl1pPr>
              <a:defRPr sz="3450" b="1">
                <a:solidFill>
                  <a:srgbClr val="007E87"/>
                </a:solidFill>
                <a:latin typeface="Liberation Sans"/>
                <a:ea typeface="Liberation Sans"/>
                <a:cs typeface="Liberation Sans"/>
              </a:defRPr>
            </a:lvl1pPr>
            <a:lvl2pPr>
              <a:defRPr sz="3450" b="1">
                <a:solidFill>
                  <a:srgbClr val="007E87"/>
                </a:solidFill>
                <a:latin typeface="Liberation Sans"/>
                <a:ea typeface="Liberation Sans"/>
                <a:cs typeface="Liberation Sans"/>
              </a:defRPr>
            </a:lvl2pPr>
            <a:lvl3pPr>
              <a:defRPr sz="3450" b="1">
                <a:solidFill>
                  <a:srgbClr val="007E87"/>
                </a:solidFill>
                <a:latin typeface="Liberation Sans"/>
                <a:ea typeface="Liberation Sans"/>
                <a:cs typeface="Liberation Sans"/>
              </a:defRPr>
            </a:lvl3pPr>
            <a:lvl4pPr>
              <a:defRPr sz="3450" b="1">
                <a:solidFill>
                  <a:srgbClr val="007E87"/>
                </a:solidFill>
                <a:latin typeface="Liberation Sans"/>
                <a:ea typeface="Liberation Sans"/>
                <a:cs typeface="Liberation Sans"/>
              </a:defRPr>
            </a:lvl4pPr>
            <a:lvl5pPr>
              <a:defRPr sz="3450" b="1">
                <a:solidFill>
                  <a:srgbClr val="007E87"/>
                </a:solidFill>
                <a:latin typeface="Liberation Sans"/>
                <a:ea typeface="Liberation Sans"/>
                <a:cs typeface="Liberation Sans"/>
              </a:defRPr>
            </a:lvl5pPr>
            <a:lvl6pPr>
              <a:defRPr sz="3450" b="1">
                <a:solidFill>
                  <a:srgbClr val="007E87"/>
                </a:solidFill>
                <a:latin typeface="Liberation Sans"/>
                <a:ea typeface="Liberation Sans"/>
                <a:cs typeface="Liberation Sans"/>
              </a:defRPr>
            </a:lvl6pPr>
            <a:lvl7pPr>
              <a:defRPr sz="3450" b="1">
                <a:solidFill>
                  <a:srgbClr val="007E87"/>
                </a:solidFill>
                <a:latin typeface="Liberation Sans"/>
                <a:ea typeface="Liberation Sans"/>
                <a:cs typeface="Liberation Sans"/>
              </a:defRPr>
            </a:lvl7pPr>
            <a:lvl8pPr>
              <a:defRPr sz="3450" b="1">
                <a:solidFill>
                  <a:srgbClr val="007E87"/>
                </a:solidFill>
                <a:latin typeface="Liberation Sans"/>
                <a:ea typeface="Liberation Sans"/>
                <a:cs typeface="Liberation Sans"/>
              </a:defRPr>
            </a:lvl8pPr>
            <a:lvl9pPr>
              <a:defRPr sz="3450" b="1">
                <a:solidFill>
                  <a:srgbClr val="007E87"/>
                </a:solidFill>
                <a:latin typeface="Liberation Sans"/>
                <a:ea typeface="Liberation Sans"/>
                <a:cs typeface="Liberation Sans"/>
              </a:defRPr>
            </a:lvl9pPr>
          </a:lstStyle>
          <a:p xmlns:a="http://schemas.openxmlformats.org/drawingml/2006/main">
            <a:pPr>
              <a:defRPr sz="3450" b="1">
                <a:solidFill>
                  <a:srgbClr val="007E87"/>
                </a:solidFill>
                <a:latin typeface="Liberation Sans"/>
                <a:ea typeface="Liberation Sans"/>
                <a:cs typeface="Liberation Sans"/>
              </a:defRPr>
            </a:pPr>
            <a:r>
              <a:rPr sz="3450" b="1">
                <a:solidFill>
                  <a:srgbClr val="007E87"/>
                </a:solidFill>
                <a:latin typeface="Liberation Sans"/>
                <a:ea typeface="Liberation Sans"/>
                <a:cs typeface="Liberation Sans"/>
              </a:rPr>
              <a:t>Evidence favors treatment</a:t>
            </a:r>
          </a:p>
          <a:p xmlns:a="http://schemas.openxmlformats.org/drawingml/2006/main">
            <a:pPr>
              <a:defRPr sz="3450" b="1">
                <a:solidFill>
                  <a:srgbClr val="007E87"/>
                </a:solidFill>
                <a:latin typeface="Liberation Sans"/>
                <a:ea typeface="Liberation Sans"/>
                <a:cs typeface="Liberation Sans"/>
              </a:defRPr>
            </a:pPr>
            <a:r>
              <a:rPr sz="3450" b="1">
                <a:solidFill>
                  <a:srgbClr val="007E87"/>
                </a:solidFill>
                <a:latin typeface="Liberation Sans"/>
                <a:ea typeface="Liberation Sans"/>
                <a:cs typeface="Liberation Sans"/>
              </a:rPr>
              <a:t>under the stated assumptions</a:t>
            </a:r>
          </a:p>
        </p:txBody>
      </p:sp>
      <p:sp>
        <p:nvSpPr>
          <p:cNvPr id="4" name="verify-title">
            <a:extLst xmlns:a="http://schemas.openxmlformats.org/drawingml/2006/main">
              <a:ext uri="{FF2B5EF4-FFF2-40B4-BE49-F238E27FC236}">
                <a16:creationId xmlns:a16="http://schemas.microsoft.com/office/drawing/2014/main" id="{BF2FEFC7-0795-436F-9D22-F4E3F071F374}"/>
              </a:ext>
            </a:extLst>
          </p:cNvPr>
          <p:cNvSpPr>
            <a:spLocks xmlns:a="http://schemas.openxmlformats.org/drawingml/2006/main" noGrp="1"/>
          </p:cNvSpPr>
          <p:nvPr/>
        </p:nvSpPr>
        <p:spPr>
          <a:xfrm xmlns:a="http://schemas.openxmlformats.org/drawingml/2006/main">
            <a:off x="609600" y="338137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123047"/>
                </a:solidFill>
                <a:latin typeface="Liberation Sans"/>
                <a:ea typeface="Liberation Sans"/>
                <a:cs typeface="Liberation Sans"/>
              </a:defRPr>
            </a:defPPr>
            <a:lvl1pPr>
              <a:defRPr sz="2250" b="1">
                <a:solidFill>
                  <a:srgbClr val="123047"/>
                </a:solidFill>
                <a:latin typeface="Liberation Sans"/>
                <a:ea typeface="Liberation Sans"/>
                <a:cs typeface="Liberation Sans"/>
              </a:defRPr>
            </a:lvl1pPr>
            <a:lvl2pPr>
              <a:defRPr sz="2250" b="1">
                <a:solidFill>
                  <a:srgbClr val="123047"/>
                </a:solidFill>
                <a:latin typeface="Liberation Sans"/>
                <a:ea typeface="Liberation Sans"/>
                <a:cs typeface="Liberation Sans"/>
              </a:defRPr>
            </a:lvl2pPr>
            <a:lvl3pPr>
              <a:defRPr sz="2250" b="1">
                <a:solidFill>
                  <a:srgbClr val="123047"/>
                </a:solidFill>
                <a:latin typeface="Liberation Sans"/>
                <a:ea typeface="Liberation Sans"/>
                <a:cs typeface="Liberation Sans"/>
              </a:defRPr>
            </a:lvl3pPr>
            <a:lvl4pPr>
              <a:defRPr sz="2250" b="1">
                <a:solidFill>
                  <a:srgbClr val="123047"/>
                </a:solidFill>
                <a:latin typeface="Liberation Sans"/>
                <a:ea typeface="Liberation Sans"/>
                <a:cs typeface="Liberation Sans"/>
              </a:defRPr>
            </a:lvl4pPr>
            <a:lvl5pPr>
              <a:defRPr sz="2250" b="1">
                <a:solidFill>
                  <a:srgbClr val="123047"/>
                </a:solidFill>
                <a:latin typeface="Liberation Sans"/>
                <a:ea typeface="Liberation Sans"/>
                <a:cs typeface="Liberation Sans"/>
              </a:defRPr>
            </a:lvl5pPr>
            <a:lvl6pPr>
              <a:defRPr sz="2250" b="1">
                <a:solidFill>
                  <a:srgbClr val="123047"/>
                </a:solidFill>
                <a:latin typeface="Liberation Sans"/>
                <a:ea typeface="Liberation Sans"/>
                <a:cs typeface="Liberation Sans"/>
              </a:defRPr>
            </a:lvl6pPr>
            <a:lvl7pPr>
              <a:defRPr sz="2250" b="1">
                <a:solidFill>
                  <a:srgbClr val="123047"/>
                </a:solidFill>
                <a:latin typeface="Liberation Sans"/>
                <a:ea typeface="Liberation Sans"/>
                <a:cs typeface="Liberation Sans"/>
              </a:defRPr>
            </a:lvl7pPr>
            <a:lvl8pPr>
              <a:defRPr sz="2250" b="1">
                <a:solidFill>
                  <a:srgbClr val="123047"/>
                </a:solidFill>
                <a:latin typeface="Liberation Sans"/>
                <a:ea typeface="Liberation Sans"/>
                <a:cs typeface="Liberation Sans"/>
              </a:defRPr>
            </a:lvl8pPr>
            <a:lvl9pPr>
              <a:defRPr sz="2250" b="1">
                <a:solidFill>
                  <a:srgbClr val="123047"/>
                </a:solidFill>
                <a:latin typeface="Liberation Sans"/>
                <a:ea typeface="Liberation Sans"/>
                <a:cs typeface="Liberation Sans"/>
              </a:defRPr>
            </a:lvl9pPr>
          </a:lstStyle>
          <a:p xmlns:a="http://schemas.openxmlformats.org/drawingml/2006/main">
            <a:pPr>
              <a:defRPr sz="2250" b="1">
                <a:solidFill>
                  <a:srgbClr val="123047"/>
                </a:solidFill>
                <a:latin typeface="Liberation Sans"/>
                <a:ea typeface="Liberation Sans"/>
                <a:cs typeface="Liberation Sans"/>
              </a:defRPr>
            </a:pPr>
            <a:r>
              <a:rPr sz="2250" b="1">
                <a:solidFill>
                  <a:srgbClr val="123047"/>
                </a:solidFill>
                <a:latin typeface="Liberation Sans"/>
                <a:ea typeface="Liberation Sans"/>
                <a:cs typeface="Liberation Sans"/>
              </a:rPr>
              <a:t>Experiment validity</a:t>
            </a:r>
          </a:p>
        </p:txBody>
      </p:sp>
      <p:sp>
        <p:nvSpPr>
          <p:cNvPr id="5" name="verify">
            <a:extLst xmlns:a="http://schemas.openxmlformats.org/drawingml/2006/main">
              <a:ext uri="{FF2B5EF4-FFF2-40B4-BE49-F238E27FC236}">
                <a16:creationId xmlns:a16="http://schemas.microsoft.com/office/drawing/2014/main" id="{F2DD821E-A04E-46C7-A3C6-CA61BC344616}"/>
              </a:ext>
            </a:extLst>
          </p:cNvPr>
          <p:cNvSpPr>
            <a:spLocks xmlns:a="http://schemas.openxmlformats.org/drawingml/2006/main" noGrp="1"/>
          </p:cNvSpPr>
          <p:nvPr/>
        </p:nvSpPr>
        <p:spPr>
          <a:xfrm xmlns:a="http://schemas.openxmlformats.org/drawingml/2006/main">
            <a:off x="609600" y="4019550"/>
            <a:ext cx="5000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23047"/>
                </a:solidFill>
                <a:latin typeface="Liberation Sans"/>
                <a:ea typeface="Liberation Sans"/>
                <a:cs typeface="Liberation Sans"/>
              </a:defRPr>
            </a:defPPr>
            <a:lvl1pPr>
              <a:defRPr sz="2175" b="0">
                <a:solidFill>
                  <a:srgbClr val="123047"/>
                </a:solidFill>
                <a:latin typeface="Liberation Sans"/>
                <a:ea typeface="Liberation Sans"/>
                <a:cs typeface="Liberation Sans"/>
              </a:defRPr>
            </a:lvl1pPr>
            <a:lvl2pPr>
              <a:defRPr sz="2175" b="0">
                <a:solidFill>
                  <a:srgbClr val="123047"/>
                </a:solidFill>
                <a:latin typeface="Liberation Sans"/>
                <a:ea typeface="Liberation Sans"/>
                <a:cs typeface="Liberation Sans"/>
              </a:defRPr>
            </a:lvl2pPr>
            <a:lvl3pPr>
              <a:defRPr sz="2175" b="0">
                <a:solidFill>
                  <a:srgbClr val="123047"/>
                </a:solidFill>
                <a:latin typeface="Liberation Sans"/>
                <a:ea typeface="Liberation Sans"/>
                <a:cs typeface="Liberation Sans"/>
              </a:defRPr>
            </a:lvl3pPr>
            <a:lvl4pPr>
              <a:defRPr sz="2175" b="0">
                <a:solidFill>
                  <a:srgbClr val="123047"/>
                </a:solidFill>
                <a:latin typeface="Liberation Sans"/>
                <a:ea typeface="Liberation Sans"/>
                <a:cs typeface="Liberation Sans"/>
              </a:defRPr>
            </a:lvl4pPr>
            <a:lvl5pPr>
              <a:defRPr sz="2175" b="0">
                <a:solidFill>
                  <a:srgbClr val="123047"/>
                </a:solidFill>
                <a:latin typeface="Liberation Sans"/>
                <a:ea typeface="Liberation Sans"/>
                <a:cs typeface="Liberation Sans"/>
              </a:defRPr>
            </a:lvl5pPr>
            <a:lvl6pPr>
              <a:defRPr sz="2175" b="0">
                <a:solidFill>
                  <a:srgbClr val="123047"/>
                </a:solidFill>
                <a:latin typeface="Liberation Sans"/>
                <a:ea typeface="Liberation Sans"/>
                <a:cs typeface="Liberation Sans"/>
              </a:defRPr>
            </a:lvl6pPr>
            <a:lvl7pPr>
              <a:defRPr sz="2175" b="0">
                <a:solidFill>
                  <a:srgbClr val="123047"/>
                </a:solidFill>
                <a:latin typeface="Liberation Sans"/>
                <a:ea typeface="Liberation Sans"/>
                <a:cs typeface="Liberation Sans"/>
              </a:defRPr>
            </a:lvl7pPr>
            <a:lvl8pPr>
              <a:defRPr sz="2175" b="0">
                <a:solidFill>
                  <a:srgbClr val="123047"/>
                </a:solidFill>
                <a:latin typeface="Liberation Sans"/>
                <a:ea typeface="Liberation Sans"/>
                <a:cs typeface="Liberation Sans"/>
              </a:defRPr>
            </a:lvl8pPr>
            <a:lvl9pPr>
              <a:defRPr sz="2175" b="0">
                <a:solidFill>
                  <a:srgbClr val="123047"/>
                </a:solidFill>
                <a:latin typeface="Liberation Sans"/>
                <a:ea typeface="Liberation Sans"/>
                <a:cs typeface="Liberation Sans"/>
              </a:defRPr>
            </a:lvl9pPr>
          </a:lstStyle>
          <a:p xmlns:a="http://schemas.openxmlformats.org/drawingml/2006/main">
            <a:pPr>
              <a:defRPr sz="2175" b="0">
                <a:solidFill>
                  <a:srgbClr val="123047"/>
                </a:solidFill>
                <a:latin typeface="Liberation Sans"/>
                <a:ea typeface="Liberation Sans"/>
                <a:cs typeface="Liberation Sans"/>
              </a:defRPr>
            </a:pPr>
            <a:r>
              <a:rPr sz="2175" b="0">
                <a:solidFill>
                  <a:srgbClr val="123047"/>
                </a:solidFill>
                <a:latin typeface="Liberation Sans"/>
                <a:ea typeface="Liberation Sans"/>
                <a:cs typeface="Liberation Sans"/>
              </a:rPr>
              <a:t>Verify allocation, observation units,</a:t>
            </a:r>
          </a:p>
          <a:p xmlns:a="http://schemas.openxmlformats.org/drawingml/2006/main">
            <a:pPr>
              <a:defRPr sz="2175" b="0">
                <a:solidFill>
                  <a:srgbClr val="123047"/>
                </a:solidFill>
                <a:latin typeface="Liberation Sans"/>
                <a:ea typeface="Liberation Sans"/>
                <a:cs typeface="Liberation Sans"/>
              </a:defRPr>
            </a:pPr>
            <a:r>
              <a:rPr sz="2175" b="0">
                <a:solidFill>
                  <a:srgbClr val="123047"/>
                </a:solidFill>
                <a:latin typeface="Liberation Sans"/>
                <a:ea typeface="Liberation Sans"/>
                <a:cs typeface="Liberation Sans"/>
              </a:rPr>
              <a:t>test timing and event logging.</a:t>
            </a:r>
          </a:p>
        </p:txBody>
      </p:sp>
      <p:sp>
        <p:nvSpPr>
          <p:cNvPr id="6" name="business-title">
            <a:extLst xmlns:a="http://schemas.openxmlformats.org/drawingml/2006/main">
              <a:ext uri="{FF2B5EF4-FFF2-40B4-BE49-F238E27FC236}">
                <a16:creationId xmlns:a16="http://schemas.microsoft.com/office/drawing/2014/main" id="{2527BC34-CAB9-4132-970D-9317DBE33BC8}"/>
              </a:ext>
            </a:extLst>
          </p:cNvPr>
          <p:cNvSpPr>
            <a:spLocks xmlns:a="http://schemas.openxmlformats.org/drawingml/2006/main" noGrp="1"/>
          </p:cNvSpPr>
          <p:nvPr/>
        </p:nvSpPr>
        <p:spPr>
          <a:xfrm xmlns:a="http://schemas.openxmlformats.org/drawingml/2006/main">
            <a:off x="6572250" y="338137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123047"/>
                </a:solidFill>
                <a:latin typeface="Liberation Sans"/>
                <a:ea typeface="Liberation Sans"/>
                <a:cs typeface="Liberation Sans"/>
              </a:defRPr>
            </a:defPPr>
            <a:lvl1pPr>
              <a:defRPr sz="2250" b="1">
                <a:solidFill>
                  <a:srgbClr val="123047"/>
                </a:solidFill>
                <a:latin typeface="Liberation Sans"/>
                <a:ea typeface="Liberation Sans"/>
                <a:cs typeface="Liberation Sans"/>
              </a:defRPr>
            </a:lvl1pPr>
            <a:lvl2pPr>
              <a:defRPr sz="2250" b="1">
                <a:solidFill>
                  <a:srgbClr val="123047"/>
                </a:solidFill>
                <a:latin typeface="Liberation Sans"/>
                <a:ea typeface="Liberation Sans"/>
                <a:cs typeface="Liberation Sans"/>
              </a:defRPr>
            </a:lvl2pPr>
            <a:lvl3pPr>
              <a:defRPr sz="2250" b="1">
                <a:solidFill>
                  <a:srgbClr val="123047"/>
                </a:solidFill>
                <a:latin typeface="Liberation Sans"/>
                <a:ea typeface="Liberation Sans"/>
                <a:cs typeface="Liberation Sans"/>
              </a:defRPr>
            </a:lvl3pPr>
            <a:lvl4pPr>
              <a:defRPr sz="2250" b="1">
                <a:solidFill>
                  <a:srgbClr val="123047"/>
                </a:solidFill>
                <a:latin typeface="Liberation Sans"/>
                <a:ea typeface="Liberation Sans"/>
                <a:cs typeface="Liberation Sans"/>
              </a:defRPr>
            </a:lvl4pPr>
            <a:lvl5pPr>
              <a:defRPr sz="2250" b="1">
                <a:solidFill>
                  <a:srgbClr val="123047"/>
                </a:solidFill>
                <a:latin typeface="Liberation Sans"/>
                <a:ea typeface="Liberation Sans"/>
                <a:cs typeface="Liberation Sans"/>
              </a:defRPr>
            </a:lvl5pPr>
            <a:lvl6pPr>
              <a:defRPr sz="2250" b="1">
                <a:solidFill>
                  <a:srgbClr val="123047"/>
                </a:solidFill>
                <a:latin typeface="Liberation Sans"/>
                <a:ea typeface="Liberation Sans"/>
                <a:cs typeface="Liberation Sans"/>
              </a:defRPr>
            </a:lvl6pPr>
            <a:lvl7pPr>
              <a:defRPr sz="2250" b="1">
                <a:solidFill>
                  <a:srgbClr val="123047"/>
                </a:solidFill>
                <a:latin typeface="Liberation Sans"/>
                <a:ea typeface="Liberation Sans"/>
                <a:cs typeface="Liberation Sans"/>
              </a:defRPr>
            </a:lvl7pPr>
            <a:lvl8pPr>
              <a:defRPr sz="2250" b="1">
                <a:solidFill>
                  <a:srgbClr val="123047"/>
                </a:solidFill>
                <a:latin typeface="Liberation Sans"/>
                <a:ea typeface="Liberation Sans"/>
                <a:cs typeface="Liberation Sans"/>
              </a:defRPr>
            </a:lvl8pPr>
            <a:lvl9pPr>
              <a:defRPr sz="2250" b="1">
                <a:solidFill>
                  <a:srgbClr val="123047"/>
                </a:solidFill>
                <a:latin typeface="Liberation Sans"/>
                <a:ea typeface="Liberation Sans"/>
                <a:cs typeface="Liberation Sans"/>
              </a:defRPr>
            </a:lvl9pPr>
          </a:lstStyle>
          <a:p xmlns:a="http://schemas.openxmlformats.org/drawingml/2006/main">
            <a:pPr>
              <a:defRPr sz="2250" b="1">
                <a:solidFill>
                  <a:srgbClr val="123047"/>
                </a:solidFill>
                <a:latin typeface="Liberation Sans"/>
                <a:ea typeface="Liberation Sans"/>
                <a:cs typeface="Liberation Sans"/>
              </a:defRPr>
            </a:pPr>
            <a:r>
              <a:rPr sz="2250" b="1">
                <a:solidFill>
                  <a:srgbClr val="123047"/>
                </a:solidFill>
                <a:latin typeface="Liberation Sans"/>
                <a:ea typeface="Liberation Sans"/>
                <a:cs typeface="Liberation Sans"/>
              </a:rPr>
              <a:t>Decision criteria</a:t>
            </a:r>
          </a:p>
        </p:txBody>
      </p:sp>
      <p:sp>
        <p:nvSpPr>
          <p:cNvPr id="7" name="business">
            <a:extLst xmlns:a="http://schemas.openxmlformats.org/drawingml/2006/main">
              <a:ext uri="{FF2B5EF4-FFF2-40B4-BE49-F238E27FC236}">
                <a16:creationId xmlns:a16="http://schemas.microsoft.com/office/drawing/2014/main" id="{151F61D7-C8E4-46A6-8CDF-CC99DA6A9A60}"/>
              </a:ext>
            </a:extLst>
          </p:cNvPr>
          <p:cNvSpPr>
            <a:spLocks xmlns:a="http://schemas.openxmlformats.org/drawingml/2006/main" noGrp="1"/>
          </p:cNvSpPr>
          <p:nvPr/>
        </p:nvSpPr>
        <p:spPr>
          <a:xfrm xmlns:a="http://schemas.openxmlformats.org/drawingml/2006/main">
            <a:off x="6572250" y="4019550"/>
            <a:ext cx="495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23047"/>
                </a:solidFill>
                <a:latin typeface="Liberation Sans"/>
                <a:ea typeface="Liberation Sans"/>
                <a:cs typeface="Liberation Sans"/>
              </a:defRPr>
            </a:defPPr>
            <a:lvl1pPr>
              <a:defRPr sz="2175" b="0">
                <a:solidFill>
                  <a:srgbClr val="123047"/>
                </a:solidFill>
                <a:latin typeface="Liberation Sans"/>
                <a:ea typeface="Liberation Sans"/>
                <a:cs typeface="Liberation Sans"/>
              </a:defRPr>
            </a:lvl1pPr>
            <a:lvl2pPr>
              <a:defRPr sz="2175" b="0">
                <a:solidFill>
                  <a:srgbClr val="123047"/>
                </a:solidFill>
                <a:latin typeface="Liberation Sans"/>
                <a:ea typeface="Liberation Sans"/>
                <a:cs typeface="Liberation Sans"/>
              </a:defRPr>
            </a:lvl2pPr>
            <a:lvl3pPr>
              <a:defRPr sz="2175" b="0">
                <a:solidFill>
                  <a:srgbClr val="123047"/>
                </a:solidFill>
                <a:latin typeface="Liberation Sans"/>
                <a:ea typeface="Liberation Sans"/>
                <a:cs typeface="Liberation Sans"/>
              </a:defRPr>
            </a:lvl3pPr>
            <a:lvl4pPr>
              <a:defRPr sz="2175" b="0">
                <a:solidFill>
                  <a:srgbClr val="123047"/>
                </a:solidFill>
                <a:latin typeface="Liberation Sans"/>
                <a:ea typeface="Liberation Sans"/>
                <a:cs typeface="Liberation Sans"/>
              </a:defRPr>
            </a:lvl4pPr>
            <a:lvl5pPr>
              <a:defRPr sz="2175" b="0">
                <a:solidFill>
                  <a:srgbClr val="123047"/>
                </a:solidFill>
                <a:latin typeface="Liberation Sans"/>
                <a:ea typeface="Liberation Sans"/>
                <a:cs typeface="Liberation Sans"/>
              </a:defRPr>
            </a:lvl5pPr>
            <a:lvl6pPr>
              <a:defRPr sz="2175" b="0">
                <a:solidFill>
                  <a:srgbClr val="123047"/>
                </a:solidFill>
                <a:latin typeface="Liberation Sans"/>
                <a:ea typeface="Liberation Sans"/>
                <a:cs typeface="Liberation Sans"/>
              </a:defRPr>
            </a:lvl6pPr>
            <a:lvl7pPr>
              <a:defRPr sz="2175" b="0">
                <a:solidFill>
                  <a:srgbClr val="123047"/>
                </a:solidFill>
                <a:latin typeface="Liberation Sans"/>
                <a:ea typeface="Liberation Sans"/>
                <a:cs typeface="Liberation Sans"/>
              </a:defRPr>
            </a:lvl7pPr>
            <a:lvl8pPr>
              <a:defRPr sz="2175" b="0">
                <a:solidFill>
                  <a:srgbClr val="123047"/>
                </a:solidFill>
                <a:latin typeface="Liberation Sans"/>
                <a:ea typeface="Liberation Sans"/>
                <a:cs typeface="Liberation Sans"/>
              </a:defRPr>
            </a:lvl8pPr>
            <a:lvl9pPr>
              <a:defRPr sz="2175" b="0">
                <a:solidFill>
                  <a:srgbClr val="123047"/>
                </a:solidFill>
                <a:latin typeface="Liberation Sans"/>
                <a:ea typeface="Liberation Sans"/>
                <a:cs typeface="Liberation Sans"/>
              </a:defRPr>
            </a:lvl9pPr>
          </a:lstStyle>
          <a:p xmlns:a="http://schemas.openxmlformats.org/drawingml/2006/main">
            <a:pPr>
              <a:defRPr sz="2175" b="0">
                <a:solidFill>
                  <a:srgbClr val="123047"/>
                </a:solidFill>
                <a:latin typeface="Liberation Sans"/>
                <a:ea typeface="Liberation Sans"/>
                <a:cs typeface="Liberation Sans"/>
              </a:defRPr>
            </a:pPr>
            <a:r>
              <a:rPr sz="2175" b="0">
                <a:solidFill>
                  <a:srgbClr val="123047"/>
                </a:solidFill>
                <a:latin typeface="Liberation Sans"/>
                <a:ea typeface="Liberation Sans"/>
                <a:cs typeface="Liberation Sans"/>
              </a:rPr>
              <a:t>Define a worthwhile effect and</a:t>
            </a:r>
          </a:p>
          <a:p xmlns:a="http://schemas.openxmlformats.org/drawingml/2006/main">
            <a:pPr>
              <a:defRPr sz="2175" b="0">
                <a:solidFill>
                  <a:srgbClr val="123047"/>
                </a:solidFill>
                <a:latin typeface="Liberation Sans"/>
                <a:ea typeface="Liberation Sans"/>
                <a:cs typeface="Liberation Sans"/>
              </a:defRPr>
            </a:pPr>
            <a:r>
              <a:rPr sz="2175" b="0">
                <a:solidFill>
                  <a:srgbClr val="123047"/>
                </a:solidFill>
                <a:latin typeface="Liberation Sans"/>
                <a:ea typeface="Liberation Sans"/>
                <a:cs typeface="Liberation Sans"/>
              </a:rPr>
              <a:t>guardrails before a rollout.</a:t>
            </a:r>
          </a:p>
        </p:txBody>
      </p:sp>
      <p:sp>
        <p:nvSpPr>
          <p:cNvPr id="8" name="roi">
            <a:extLst xmlns:a="http://schemas.openxmlformats.org/drawingml/2006/main">
              <a:ext uri="{FF2B5EF4-FFF2-40B4-BE49-F238E27FC236}">
                <a16:creationId xmlns:a16="http://schemas.microsoft.com/office/drawing/2014/main" id="{01ABE35E-D3B3-4447-8A92-99DF4399DC54}"/>
              </a:ext>
            </a:extLst>
          </p:cNvPr>
          <p:cNvSpPr>
            <a:spLocks xmlns:a="http://schemas.openxmlformats.org/drawingml/2006/main" noGrp="1"/>
          </p:cNvSpPr>
          <p:nvPr/>
        </p:nvSpPr>
        <p:spPr>
          <a:xfrm xmlns:a="http://schemas.openxmlformats.org/drawingml/2006/main">
            <a:off x="609600" y="57912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526A78"/>
                </a:solidFill>
                <a:latin typeface="Liberation Sans"/>
                <a:ea typeface="Liberation Sans"/>
                <a:cs typeface="Liberation Sans"/>
              </a:defRPr>
            </a:defPPr>
            <a:lvl1pPr>
              <a:defRPr sz="2025" b="0">
                <a:solidFill>
                  <a:srgbClr val="526A78"/>
                </a:solidFill>
                <a:latin typeface="Liberation Sans"/>
                <a:ea typeface="Liberation Sans"/>
                <a:cs typeface="Liberation Sans"/>
              </a:defRPr>
            </a:lvl1pPr>
            <a:lvl2pPr>
              <a:defRPr sz="2025" b="0">
                <a:solidFill>
                  <a:srgbClr val="526A78"/>
                </a:solidFill>
                <a:latin typeface="Liberation Sans"/>
                <a:ea typeface="Liberation Sans"/>
                <a:cs typeface="Liberation Sans"/>
              </a:defRPr>
            </a:lvl2pPr>
            <a:lvl3pPr>
              <a:defRPr sz="2025" b="0">
                <a:solidFill>
                  <a:srgbClr val="526A78"/>
                </a:solidFill>
                <a:latin typeface="Liberation Sans"/>
                <a:ea typeface="Liberation Sans"/>
                <a:cs typeface="Liberation Sans"/>
              </a:defRPr>
            </a:lvl3pPr>
            <a:lvl4pPr>
              <a:defRPr sz="2025" b="0">
                <a:solidFill>
                  <a:srgbClr val="526A78"/>
                </a:solidFill>
                <a:latin typeface="Liberation Sans"/>
                <a:ea typeface="Liberation Sans"/>
                <a:cs typeface="Liberation Sans"/>
              </a:defRPr>
            </a:lvl4pPr>
            <a:lvl5pPr>
              <a:defRPr sz="2025" b="0">
                <a:solidFill>
                  <a:srgbClr val="526A78"/>
                </a:solidFill>
                <a:latin typeface="Liberation Sans"/>
                <a:ea typeface="Liberation Sans"/>
                <a:cs typeface="Liberation Sans"/>
              </a:defRPr>
            </a:lvl5pPr>
            <a:lvl6pPr>
              <a:defRPr sz="2025" b="0">
                <a:solidFill>
                  <a:srgbClr val="526A78"/>
                </a:solidFill>
                <a:latin typeface="Liberation Sans"/>
                <a:ea typeface="Liberation Sans"/>
                <a:cs typeface="Liberation Sans"/>
              </a:defRPr>
            </a:lvl6pPr>
            <a:lvl7pPr>
              <a:defRPr sz="2025" b="0">
                <a:solidFill>
                  <a:srgbClr val="526A78"/>
                </a:solidFill>
                <a:latin typeface="Liberation Sans"/>
                <a:ea typeface="Liberation Sans"/>
                <a:cs typeface="Liberation Sans"/>
              </a:defRPr>
            </a:lvl7pPr>
            <a:lvl8pPr>
              <a:defRPr sz="2025" b="0">
                <a:solidFill>
                  <a:srgbClr val="526A78"/>
                </a:solidFill>
                <a:latin typeface="Liberation Sans"/>
                <a:ea typeface="Liberation Sans"/>
                <a:cs typeface="Liberation Sans"/>
              </a:defRPr>
            </a:lvl8pPr>
            <a:lvl9pPr>
              <a:defRPr sz="2025" b="0">
                <a:solidFill>
                  <a:srgbClr val="526A78"/>
                </a:solidFill>
                <a:latin typeface="Liberation Sans"/>
                <a:ea typeface="Liberation Sans"/>
                <a:cs typeface="Liberation Sans"/>
              </a:defRPr>
            </a:lvl9pPr>
          </a:lstStyle>
          <a:p xmlns:a="http://schemas.openxmlformats.org/drawingml/2006/main">
            <a:pPr>
              <a:defRPr sz="2025" b="0">
                <a:solidFill>
                  <a:srgbClr val="526A78"/>
                </a:solidFill>
                <a:latin typeface="Liberation Sans"/>
                <a:ea typeface="Liberation Sans"/>
                <a:cs typeface="Liberation Sans"/>
              </a:defRPr>
            </a:pPr>
            <a:r>
              <a:rPr sz="2025" b="0">
                <a:solidFill>
                  <a:srgbClr val="526A78"/>
                </a:solidFill>
                <a:latin typeface="Liberation Sans"/>
                <a:ea typeface="Liberation Sans"/>
                <a:cs typeface="Liberation Sans"/>
              </a:rPr>
              <a:t>The file contains no revenue, cost or ROI evidence.</a:t>
            </a:r>
          </a:p>
        </p:txBody>
      </p:sp>
    </p:spTree>
    <p:extLst>
      <p:ext uri="{BB962C8B-B14F-4D97-AF65-F5344CB8AC3E}">
        <p14:creationId xmlns:p14="http://schemas.microsoft.com/office/powerpoint/2010/main" val="1882673376"/>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5A2955B-B16F-44F9-BEB7-05BC9768F946}"/>
              </a:ext>
            </a:extLst>
          </p:cNvPr>
          <p:cNvSpPr>
            <a:spLocks xmlns:a="http://schemas.openxmlformats.org/drawingml/2006/main" noGrp="1"/>
          </p:cNvSpPr>
          <p:nvPr/>
        </p:nvSpPr>
        <p:spPr>
          <a:xfrm xmlns:a="http://schemas.openxmlformats.org/drawingml/2006/main">
            <a:off x="609600" y="495300"/>
            <a:ext cx="1097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3047"/>
                </a:solidFill>
                <a:latin typeface="Liberation Sans"/>
                <a:ea typeface="Liberation Sans"/>
                <a:cs typeface="Liberation Sans"/>
              </a:defRPr>
            </a:defPPr>
            <a:lvl1pPr>
              <a:buNone/>
              <a:defRPr sz="3300" b="1">
                <a:solidFill>
                  <a:srgbClr val="123047"/>
                </a:solidFill>
                <a:latin typeface="Liberation Sans"/>
                <a:ea typeface="Liberation Sans"/>
                <a:cs typeface="Liberation Sans"/>
              </a:defRPr>
            </a:lvl1pPr>
            <a:lvl2pPr>
              <a:buNone/>
              <a:defRPr sz="3300" b="1">
                <a:solidFill>
                  <a:srgbClr val="123047"/>
                </a:solidFill>
                <a:latin typeface="Liberation Sans"/>
                <a:ea typeface="Liberation Sans"/>
                <a:cs typeface="Liberation Sans"/>
              </a:defRPr>
            </a:lvl2pPr>
            <a:lvl3pPr>
              <a:buNone/>
              <a:defRPr sz="3300" b="1">
                <a:solidFill>
                  <a:srgbClr val="123047"/>
                </a:solidFill>
                <a:latin typeface="Liberation Sans"/>
                <a:ea typeface="Liberation Sans"/>
                <a:cs typeface="Liberation Sans"/>
              </a:defRPr>
            </a:lvl3pPr>
            <a:lvl4pPr>
              <a:buNone/>
              <a:defRPr sz="3300" b="1">
                <a:solidFill>
                  <a:srgbClr val="123047"/>
                </a:solidFill>
                <a:latin typeface="Liberation Sans"/>
                <a:ea typeface="Liberation Sans"/>
                <a:cs typeface="Liberation Sans"/>
              </a:defRPr>
            </a:lvl4pPr>
            <a:lvl5pPr>
              <a:buNone/>
              <a:defRPr sz="3300" b="1">
                <a:solidFill>
                  <a:srgbClr val="123047"/>
                </a:solidFill>
                <a:latin typeface="Liberation Sans"/>
                <a:ea typeface="Liberation Sans"/>
                <a:cs typeface="Liberation Sans"/>
              </a:defRPr>
            </a:lvl5pPr>
            <a:lvl6pPr>
              <a:buNone/>
              <a:defRPr sz="3300" b="1">
                <a:solidFill>
                  <a:srgbClr val="123047"/>
                </a:solidFill>
                <a:latin typeface="Liberation Sans"/>
                <a:ea typeface="Liberation Sans"/>
                <a:cs typeface="Liberation Sans"/>
              </a:defRPr>
            </a:lvl6pPr>
            <a:lvl7pPr>
              <a:buNone/>
              <a:defRPr sz="3300" b="1">
                <a:solidFill>
                  <a:srgbClr val="123047"/>
                </a:solidFill>
                <a:latin typeface="Liberation Sans"/>
                <a:ea typeface="Liberation Sans"/>
                <a:cs typeface="Liberation Sans"/>
              </a:defRPr>
            </a:lvl7pPr>
            <a:lvl8pPr>
              <a:buNone/>
              <a:defRPr sz="3300" b="1">
                <a:solidFill>
                  <a:srgbClr val="123047"/>
                </a:solidFill>
                <a:latin typeface="Liberation Sans"/>
                <a:ea typeface="Liberation Sans"/>
                <a:cs typeface="Liberation Sans"/>
              </a:defRPr>
            </a:lvl8pPr>
            <a:lvl9pPr>
              <a:buNone/>
              <a:defRPr sz="3300" b="1">
                <a:solidFill>
                  <a:srgbClr val="123047"/>
                </a:solidFill>
                <a:latin typeface="Liberation Sans"/>
                <a:ea typeface="Liberation Sans"/>
                <a:cs typeface="Liberation Sans"/>
              </a:defRPr>
            </a:lvl9pPr>
          </a:lstStyle>
          <a:p xmlns:a="http://schemas.openxmlformats.org/drawingml/2006/main">
            <a:pPr>
              <a:buNone/>
              <a:defRPr sz="3300" b="1">
                <a:solidFill>
                  <a:srgbClr val="123047"/>
                </a:solidFill>
                <a:latin typeface="Liberation Sans"/>
                <a:ea typeface="Liberation Sans"/>
                <a:cs typeface="Liberation Sans"/>
              </a:defRPr>
            </a:pPr>
            <a:r>
              <a:rPr sz="3300" b="1">
                <a:solidFill>
                  <a:srgbClr val="123047"/>
                </a:solidFill>
                <a:latin typeface="Liberation Sans"/>
                <a:ea typeface="Liberation Sans"/>
                <a:cs typeface="Liberation Sans"/>
              </a:rPr>
              <a:t>Source and reproducibility</a:t>
            </a:r>
          </a:p>
        </p:txBody>
      </p:sp>
      <p:sp>
        <p:nvSpPr>
          <p:cNvPr id="2" name="slide-number">
            <a:extLst xmlns:a="http://schemas.openxmlformats.org/drawingml/2006/main">
              <a:ext uri="{FF2B5EF4-FFF2-40B4-BE49-F238E27FC236}">
                <a16:creationId xmlns:a16="http://schemas.microsoft.com/office/drawing/2014/main" id="{78CB811F-45AD-4E8D-A517-3C2C9638FD86}"/>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526A78"/>
                </a:solidFill>
                <a:latin typeface="Liberation Sans"/>
                <a:ea typeface="Liberation Sans"/>
                <a:cs typeface="Liberation Sans"/>
              </a:defRPr>
            </a:defPPr>
            <a:lvl1pPr>
              <a:buNone/>
              <a:defRPr sz="1350" b="0">
                <a:solidFill>
                  <a:srgbClr val="526A78"/>
                </a:solidFill>
                <a:latin typeface="Liberation Sans"/>
                <a:ea typeface="Liberation Sans"/>
                <a:cs typeface="Liberation Sans"/>
              </a:defRPr>
            </a:lvl1pPr>
            <a:lvl2pPr>
              <a:buNone/>
              <a:defRPr sz="1350" b="0">
                <a:solidFill>
                  <a:srgbClr val="526A78"/>
                </a:solidFill>
                <a:latin typeface="Liberation Sans"/>
                <a:ea typeface="Liberation Sans"/>
                <a:cs typeface="Liberation Sans"/>
              </a:defRPr>
            </a:lvl2pPr>
            <a:lvl3pPr>
              <a:buNone/>
              <a:defRPr sz="1350" b="0">
                <a:solidFill>
                  <a:srgbClr val="526A78"/>
                </a:solidFill>
                <a:latin typeface="Liberation Sans"/>
                <a:ea typeface="Liberation Sans"/>
                <a:cs typeface="Liberation Sans"/>
              </a:defRPr>
            </a:lvl3pPr>
            <a:lvl4pPr>
              <a:buNone/>
              <a:defRPr sz="1350" b="0">
                <a:solidFill>
                  <a:srgbClr val="526A78"/>
                </a:solidFill>
                <a:latin typeface="Liberation Sans"/>
                <a:ea typeface="Liberation Sans"/>
                <a:cs typeface="Liberation Sans"/>
              </a:defRPr>
            </a:lvl4pPr>
            <a:lvl5pPr>
              <a:buNone/>
              <a:defRPr sz="1350" b="0">
                <a:solidFill>
                  <a:srgbClr val="526A78"/>
                </a:solidFill>
                <a:latin typeface="Liberation Sans"/>
                <a:ea typeface="Liberation Sans"/>
                <a:cs typeface="Liberation Sans"/>
              </a:defRPr>
            </a:lvl5pPr>
            <a:lvl6pPr>
              <a:buNone/>
              <a:defRPr sz="1350" b="0">
                <a:solidFill>
                  <a:srgbClr val="526A78"/>
                </a:solidFill>
                <a:latin typeface="Liberation Sans"/>
                <a:ea typeface="Liberation Sans"/>
                <a:cs typeface="Liberation Sans"/>
              </a:defRPr>
            </a:lvl6pPr>
            <a:lvl7pPr>
              <a:buNone/>
              <a:defRPr sz="1350" b="0">
                <a:solidFill>
                  <a:srgbClr val="526A78"/>
                </a:solidFill>
                <a:latin typeface="Liberation Sans"/>
                <a:ea typeface="Liberation Sans"/>
                <a:cs typeface="Liberation Sans"/>
              </a:defRPr>
            </a:lvl7pPr>
            <a:lvl8pPr>
              <a:buNone/>
              <a:defRPr sz="1350" b="0">
                <a:solidFill>
                  <a:srgbClr val="526A78"/>
                </a:solidFill>
                <a:latin typeface="Liberation Sans"/>
                <a:ea typeface="Liberation Sans"/>
                <a:cs typeface="Liberation Sans"/>
              </a:defRPr>
            </a:lvl8pPr>
            <a:lvl9pPr>
              <a:buNone/>
              <a:defRPr sz="1350" b="0">
                <a:solidFill>
                  <a:srgbClr val="526A78"/>
                </a:solidFill>
                <a:latin typeface="Liberation Sans"/>
                <a:ea typeface="Liberation Sans"/>
                <a:cs typeface="Liberation Sans"/>
              </a:defRPr>
            </a:lvl9pPr>
          </a:lstStyle>
          <a:p xmlns:a="http://schemas.openxmlformats.org/drawingml/2006/main">
            <a:pPr>
              <a:buNone/>
              <a:defRPr sz="1350" b="0">
                <a:solidFill>
                  <a:srgbClr val="526A78"/>
                </a:solidFill>
                <a:latin typeface="Liberation Sans"/>
                <a:ea typeface="Liberation Sans"/>
                <a:cs typeface="Liberation Sans"/>
              </a:defRPr>
            </a:pPr>
            <a:r>
              <a:rPr sz="1350" b="0">
                <a:solidFill>
                  <a:srgbClr val="526A78"/>
                </a:solidFill>
                <a:latin typeface="Liberation Sans"/>
                <a:ea typeface="Liberation Sans"/>
                <a:cs typeface="Liberation Sans"/>
              </a:rPr>
              <a:t>07</a:t>
            </a:r>
          </a:p>
        </p:txBody>
      </p:sp>
      <p:sp>
        <p:nvSpPr>
          <p:cNvPr id="3" name="repro-head">
            <a:extLst xmlns:a="http://schemas.openxmlformats.org/drawingml/2006/main">
              <a:ext uri="{FF2B5EF4-FFF2-40B4-BE49-F238E27FC236}">
                <a16:creationId xmlns:a16="http://schemas.microsoft.com/office/drawing/2014/main" id="{DC296185-1DF1-410F-92F9-41E601F05271}"/>
              </a:ext>
            </a:extLst>
          </p:cNvPr>
          <p:cNvSpPr>
            <a:spLocks xmlns:a="http://schemas.openxmlformats.org/drawingml/2006/main" noGrp="1"/>
          </p:cNvSpPr>
          <p:nvPr/>
        </p:nvSpPr>
        <p:spPr>
          <a:xfrm xmlns:a="http://schemas.openxmlformats.org/drawingml/2006/main">
            <a:off x="609600" y="1571625"/>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1">
                <a:solidFill>
                  <a:srgbClr val="007E87"/>
                </a:solidFill>
                <a:latin typeface="Liberation Sans"/>
                <a:ea typeface="Liberation Sans"/>
                <a:cs typeface="Liberation Sans"/>
              </a:defRPr>
            </a:defPPr>
            <a:lvl1pPr>
              <a:buNone/>
              <a:defRPr sz="2550" b="1">
                <a:solidFill>
                  <a:srgbClr val="007E87"/>
                </a:solidFill>
                <a:latin typeface="Liberation Sans"/>
                <a:ea typeface="Liberation Sans"/>
                <a:cs typeface="Liberation Sans"/>
              </a:defRPr>
            </a:lvl1pPr>
            <a:lvl2pPr>
              <a:buNone/>
              <a:defRPr sz="2550" b="1">
                <a:solidFill>
                  <a:srgbClr val="007E87"/>
                </a:solidFill>
                <a:latin typeface="Liberation Sans"/>
                <a:ea typeface="Liberation Sans"/>
                <a:cs typeface="Liberation Sans"/>
              </a:defRPr>
            </a:lvl2pPr>
            <a:lvl3pPr>
              <a:buNone/>
              <a:defRPr sz="2550" b="1">
                <a:solidFill>
                  <a:srgbClr val="007E87"/>
                </a:solidFill>
                <a:latin typeface="Liberation Sans"/>
                <a:ea typeface="Liberation Sans"/>
                <a:cs typeface="Liberation Sans"/>
              </a:defRPr>
            </a:lvl3pPr>
            <a:lvl4pPr>
              <a:buNone/>
              <a:defRPr sz="2550" b="1">
                <a:solidFill>
                  <a:srgbClr val="007E87"/>
                </a:solidFill>
                <a:latin typeface="Liberation Sans"/>
                <a:ea typeface="Liberation Sans"/>
                <a:cs typeface="Liberation Sans"/>
              </a:defRPr>
            </a:lvl4pPr>
            <a:lvl5pPr>
              <a:buNone/>
              <a:defRPr sz="2550" b="1">
                <a:solidFill>
                  <a:srgbClr val="007E87"/>
                </a:solidFill>
                <a:latin typeface="Liberation Sans"/>
                <a:ea typeface="Liberation Sans"/>
                <a:cs typeface="Liberation Sans"/>
              </a:defRPr>
            </a:lvl5pPr>
            <a:lvl6pPr>
              <a:buNone/>
              <a:defRPr sz="2550" b="1">
                <a:solidFill>
                  <a:srgbClr val="007E87"/>
                </a:solidFill>
                <a:latin typeface="Liberation Sans"/>
                <a:ea typeface="Liberation Sans"/>
                <a:cs typeface="Liberation Sans"/>
              </a:defRPr>
            </a:lvl6pPr>
            <a:lvl7pPr>
              <a:buNone/>
              <a:defRPr sz="2550" b="1">
                <a:solidFill>
                  <a:srgbClr val="007E87"/>
                </a:solidFill>
                <a:latin typeface="Liberation Sans"/>
                <a:ea typeface="Liberation Sans"/>
                <a:cs typeface="Liberation Sans"/>
              </a:defRPr>
            </a:lvl7pPr>
            <a:lvl8pPr>
              <a:buNone/>
              <a:defRPr sz="2550" b="1">
                <a:solidFill>
                  <a:srgbClr val="007E87"/>
                </a:solidFill>
                <a:latin typeface="Liberation Sans"/>
                <a:ea typeface="Liberation Sans"/>
                <a:cs typeface="Liberation Sans"/>
              </a:defRPr>
            </a:lvl8pPr>
            <a:lvl9pPr>
              <a:buNone/>
              <a:defRPr sz="2550" b="1">
                <a:solidFill>
                  <a:srgbClr val="007E87"/>
                </a:solidFill>
                <a:latin typeface="Liberation Sans"/>
                <a:ea typeface="Liberation Sans"/>
                <a:cs typeface="Liberation Sans"/>
              </a:defRPr>
            </a:lvl9pPr>
          </a:lstStyle>
          <a:p xmlns:a="http://schemas.openxmlformats.org/drawingml/2006/main">
            <a:pPr>
              <a:buNone/>
              <a:defRPr sz="2550" b="1">
                <a:solidFill>
                  <a:srgbClr val="007E87"/>
                </a:solidFill>
                <a:latin typeface="Liberation Sans"/>
                <a:ea typeface="Liberation Sans"/>
                <a:cs typeface="Liberation Sans"/>
              </a:defRPr>
            </a:pPr>
            <a:r>
              <a:rPr sz="2550" b="1">
                <a:solidFill>
                  <a:srgbClr val="007E87"/>
                </a:solidFill>
                <a:latin typeface="Liberation Sans"/>
                <a:ea typeface="Liberation Sans"/>
                <a:cs typeface="Liberation Sans"/>
              </a:rPr>
              <a:t>Udacity e-commerce A/B dataset</a:t>
            </a:r>
          </a:p>
        </p:txBody>
      </p:sp>
      <p:sp>
        <p:nvSpPr>
          <p:cNvPr id="4" name="files">
            <a:extLst xmlns:a="http://schemas.openxmlformats.org/drawingml/2006/main">
              <a:ext uri="{FF2B5EF4-FFF2-40B4-BE49-F238E27FC236}">
                <a16:creationId xmlns:a16="http://schemas.microsoft.com/office/drawing/2014/main" id="{1E1E988C-6D7E-49BF-B3CB-67D568B8D753}"/>
              </a:ext>
            </a:extLst>
          </p:cNvPr>
          <p:cNvSpPr>
            <a:spLocks xmlns:a="http://schemas.openxmlformats.org/drawingml/2006/main" noGrp="1"/>
          </p:cNvSpPr>
          <p:nvPr/>
        </p:nvSpPr>
        <p:spPr>
          <a:xfrm xmlns:a="http://schemas.openxmlformats.org/drawingml/2006/main">
            <a:off x="609600" y="2524125"/>
            <a:ext cx="1047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123047"/>
                </a:solidFill>
                <a:latin typeface="Liberation Sans"/>
                <a:ea typeface="Liberation Sans"/>
                <a:cs typeface="Liberation Sans"/>
              </a:defRPr>
            </a:defPPr>
            <a:lvl1pPr>
              <a:buNone/>
              <a:defRPr sz="2400" b="0">
                <a:solidFill>
                  <a:srgbClr val="123047"/>
                </a:solidFill>
                <a:latin typeface="Liberation Sans"/>
                <a:ea typeface="Liberation Sans"/>
                <a:cs typeface="Liberation Sans"/>
              </a:defRPr>
            </a:lvl1pPr>
            <a:lvl2pPr>
              <a:buNone/>
              <a:defRPr sz="2400" b="0">
                <a:solidFill>
                  <a:srgbClr val="123047"/>
                </a:solidFill>
                <a:latin typeface="Liberation Sans"/>
                <a:ea typeface="Liberation Sans"/>
                <a:cs typeface="Liberation Sans"/>
              </a:defRPr>
            </a:lvl2pPr>
            <a:lvl3pPr>
              <a:buNone/>
              <a:defRPr sz="2400" b="0">
                <a:solidFill>
                  <a:srgbClr val="123047"/>
                </a:solidFill>
                <a:latin typeface="Liberation Sans"/>
                <a:ea typeface="Liberation Sans"/>
                <a:cs typeface="Liberation Sans"/>
              </a:defRPr>
            </a:lvl3pPr>
            <a:lvl4pPr>
              <a:buNone/>
              <a:defRPr sz="2400" b="0">
                <a:solidFill>
                  <a:srgbClr val="123047"/>
                </a:solidFill>
                <a:latin typeface="Liberation Sans"/>
                <a:ea typeface="Liberation Sans"/>
                <a:cs typeface="Liberation Sans"/>
              </a:defRPr>
            </a:lvl4pPr>
            <a:lvl5pPr>
              <a:buNone/>
              <a:defRPr sz="2400" b="0">
                <a:solidFill>
                  <a:srgbClr val="123047"/>
                </a:solidFill>
                <a:latin typeface="Liberation Sans"/>
                <a:ea typeface="Liberation Sans"/>
                <a:cs typeface="Liberation Sans"/>
              </a:defRPr>
            </a:lvl5pPr>
            <a:lvl6pPr>
              <a:buNone/>
              <a:defRPr sz="2400" b="0">
                <a:solidFill>
                  <a:srgbClr val="123047"/>
                </a:solidFill>
                <a:latin typeface="Liberation Sans"/>
                <a:ea typeface="Liberation Sans"/>
                <a:cs typeface="Liberation Sans"/>
              </a:defRPr>
            </a:lvl6pPr>
            <a:lvl7pPr>
              <a:buNone/>
              <a:defRPr sz="2400" b="0">
                <a:solidFill>
                  <a:srgbClr val="123047"/>
                </a:solidFill>
                <a:latin typeface="Liberation Sans"/>
                <a:ea typeface="Liberation Sans"/>
                <a:cs typeface="Liberation Sans"/>
              </a:defRPr>
            </a:lvl7pPr>
            <a:lvl8pPr>
              <a:buNone/>
              <a:defRPr sz="2400" b="0">
                <a:solidFill>
                  <a:srgbClr val="123047"/>
                </a:solidFill>
                <a:latin typeface="Liberation Sans"/>
                <a:ea typeface="Liberation Sans"/>
                <a:cs typeface="Liberation Sans"/>
              </a:defRPr>
            </a:lvl8pPr>
            <a:lvl9pPr>
              <a:buNone/>
              <a:defRPr sz="2400" b="0">
                <a:solidFill>
                  <a:srgbClr val="123047"/>
                </a:solidFill>
                <a:latin typeface="Liberation Sans"/>
                <a:ea typeface="Liberation Sans"/>
                <a:cs typeface="Liberation Sans"/>
              </a:defRPr>
            </a:lvl9pPr>
          </a:lstStyle>
          <a:p xmlns:a="http://schemas.openxmlformats.org/drawingml/2006/main">
            <a:pPr>
              <a:buNone/>
              <a:defRPr sz="2400" b="0">
                <a:solidFill>
                  <a:srgbClr val="123047"/>
                </a:solidFill>
                <a:latin typeface="Liberation Sans"/>
                <a:ea typeface="Liberation Sans"/>
                <a:cs typeface="Liberation Sans"/>
              </a:defRPr>
            </a:pPr>
            <a:r>
              <a:rPr sz="2400" b="0">
                <a:solidFill>
                  <a:srgbClr val="123047"/>
                </a:solidFill>
                <a:latin typeface="Liberation Sans"/>
                <a:ea typeface="Liberation Sans"/>
                <a:cs typeface="Liberation Sans"/>
              </a:rPr>
              <a:t>Notebook and aggregate results</a:t>
            </a:r>
          </a:p>
          <a:p xmlns:a="http://schemas.openxmlformats.org/drawingml/2006/main">
            <a:pPr>
              <a:buNone/>
              <a:defRPr sz="2400" b="0">
                <a:solidFill>
                  <a:srgbClr val="123047"/>
                </a:solidFill>
                <a:latin typeface="Liberation Sans"/>
                <a:ea typeface="Liberation Sans"/>
                <a:cs typeface="Liberation Sans"/>
              </a:defRPr>
            </a:pPr>
            <a:r>
              <a:rPr sz="2400" b="0">
                <a:solidFill>
                  <a:srgbClr val="123047"/>
                </a:solidFill>
                <a:latin typeface="Liberation Sans"/>
                <a:ea typeface="Liberation Sans"/>
                <a:cs typeface="Liberation Sans"/>
              </a:rPr>
              <a:t>Source URL and SHA-256 checksum</a:t>
            </a:r>
          </a:p>
        </p:txBody>
      </p:sp>
      <p:sp>
        <p:nvSpPr>
          <p:cNvPr id="5" name="redistribution">
            <a:extLst xmlns:a="http://schemas.openxmlformats.org/drawingml/2006/main">
              <a:ext uri="{FF2B5EF4-FFF2-40B4-BE49-F238E27FC236}">
                <a16:creationId xmlns:a16="http://schemas.microsoft.com/office/drawing/2014/main" id="{71C8FEFF-AD65-4FDE-BDCE-81E1529FA00E}"/>
              </a:ext>
            </a:extLst>
          </p:cNvPr>
          <p:cNvSpPr>
            <a:spLocks xmlns:a="http://schemas.openxmlformats.org/drawingml/2006/main" noGrp="1"/>
          </p:cNvSpPr>
          <p:nvPr/>
        </p:nvSpPr>
        <p:spPr>
          <a:xfrm xmlns:a="http://schemas.openxmlformats.org/drawingml/2006/main">
            <a:off x="609600" y="4876800"/>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526A78"/>
                </a:solidFill>
                <a:latin typeface="Liberation Sans"/>
                <a:ea typeface="Liberation Sans"/>
                <a:cs typeface="Liberation Sans"/>
              </a:defRPr>
            </a:defPPr>
            <a:lvl1pPr>
              <a:buNone/>
              <a:defRPr sz="2025" b="0">
                <a:solidFill>
                  <a:srgbClr val="526A78"/>
                </a:solidFill>
                <a:latin typeface="Liberation Sans"/>
                <a:ea typeface="Liberation Sans"/>
                <a:cs typeface="Liberation Sans"/>
              </a:defRPr>
            </a:lvl1pPr>
            <a:lvl2pPr>
              <a:buNone/>
              <a:defRPr sz="2025" b="0">
                <a:solidFill>
                  <a:srgbClr val="526A78"/>
                </a:solidFill>
                <a:latin typeface="Liberation Sans"/>
                <a:ea typeface="Liberation Sans"/>
                <a:cs typeface="Liberation Sans"/>
              </a:defRPr>
            </a:lvl2pPr>
            <a:lvl3pPr>
              <a:buNone/>
              <a:defRPr sz="2025" b="0">
                <a:solidFill>
                  <a:srgbClr val="526A78"/>
                </a:solidFill>
                <a:latin typeface="Liberation Sans"/>
                <a:ea typeface="Liberation Sans"/>
                <a:cs typeface="Liberation Sans"/>
              </a:defRPr>
            </a:lvl3pPr>
            <a:lvl4pPr>
              <a:buNone/>
              <a:defRPr sz="2025" b="0">
                <a:solidFill>
                  <a:srgbClr val="526A78"/>
                </a:solidFill>
                <a:latin typeface="Liberation Sans"/>
                <a:ea typeface="Liberation Sans"/>
                <a:cs typeface="Liberation Sans"/>
              </a:defRPr>
            </a:lvl4pPr>
            <a:lvl5pPr>
              <a:buNone/>
              <a:defRPr sz="2025" b="0">
                <a:solidFill>
                  <a:srgbClr val="526A78"/>
                </a:solidFill>
                <a:latin typeface="Liberation Sans"/>
                <a:ea typeface="Liberation Sans"/>
                <a:cs typeface="Liberation Sans"/>
              </a:defRPr>
            </a:lvl5pPr>
            <a:lvl6pPr>
              <a:buNone/>
              <a:defRPr sz="2025" b="0">
                <a:solidFill>
                  <a:srgbClr val="526A78"/>
                </a:solidFill>
                <a:latin typeface="Liberation Sans"/>
                <a:ea typeface="Liberation Sans"/>
                <a:cs typeface="Liberation Sans"/>
              </a:defRPr>
            </a:lvl6pPr>
            <a:lvl7pPr>
              <a:buNone/>
              <a:defRPr sz="2025" b="0">
                <a:solidFill>
                  <a:srgbClr val="526A78"/>
                </a:solidFill>
                <a:latin typeface="Liberation Sans"/>
                <a:ea typeface="Liberation Sans"/>
                <a:cs typeface="Liberation Sans"/>
              </a:defRPr>
            </a:lvl7pPr>
            <a:lvl8pPr>
              <a:buNone/>
              <a:defRPr sz="2025" b="0">
                <a:solidFill>
                  <a:srgbClr val="526A78"/>
                </a:solidFill>
                <a:latin typeface="Liberation Sans"/>
                <a:ea typeface="Liberation Sans"/>
                <a:cs typeface="Liberation Sans"/>
              </a:defRPr>
            </a:lvl8pPr>
            <a:lvl9pPr>
              <a:buNone/>
              <a:defRPr sz="2025" b="0">
                <a:solidFill>
                  <a:srgbClr val="526A78"/>
                </a:solidFill>
                <a:latin typeface="Liberation Sans"/>
                <a:ea typeface="Liberation Sans"/>
                <a:cs typeface="Liberation Sans"/>
              </a:defRPr>
            </a:lvl9pPr>
          </a:lstStyle>
          <a:p xmlns:a="http://schemas.openxmlformats.org/drawingml/2006/main">
            <a:pPr>
              <a:buNone/>
              <a:defRPr sz="2025" b="0">
                <a:solidFill>
                  <a:srgbClr val="526A78"/>
                </a:solidFill>
                <a:latin typeface="Liberation Sans"/>
                <a:ea typeface="Liberation Sans"/>
                <a:cs typeface="Liberation Sans"/>
              </a:defRPr>
            </a:pPr>
            <a:r>
              <a:rPr sz="2025" b="0">
                <a:solidFill>
                  <a:srgbClr val="526A78"/>
                </a:solidFill>
                <a:latin typeface="Liberation Sans"/>
                <a:ea typeface="Liberation Sans"/>
                <a:cs typeface="Liberation Sans"/>
              </a:rPr>
              <a:t>Raw data excluded while redistribution permission is unclear.</a:t>
            </a:r>
          </a:p>
        </p:txBody>
      </p:sp>
    </p:spTree>
    <p:extLst>
      <p:ext uri="{BB962C8B-B14F-4D97-AF65-F5344CB8AC3E}">
        <p14:creationId xmlns:p14="http://schemas.microsoft.com/office/powerpoint/2010/main" val="262405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title>E-commerce A/B testing analysis</dc:title>
  <dcterms:created xsi:type="dcterms:W3CDTF">2026-10-27T04:59:02.1900000Z</dcterms:created>
  <dcterms:modified xsi:type="dcterms:W3CDTF">2026-10-27T04:59:02.1900000Z</dcterms:modified>
</coreProperties>
</file>